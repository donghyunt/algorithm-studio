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학생 투사용 표지. 애니메이션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수업 전체 흐름을 1분 안에 안내한다.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학생 2~3명의 대답을 듣고 다음 영상에서 로봇 역할을 하는 아빠의 행동을 관찰하게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YouTube, 코딩 소개 영상 SBS 다큐 샌드위치 코딩, https://www.youtube.com/watch?v=I5cq54MFQCo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세 답을 클릭으로 공개한다. 핵심은 로봇의 실수가 아니라 명령이 충분히 명확하지 않았다는 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원본 PPT의 정의를 간결하게 유지한다. 현재 상태에서 목표 상태로 가는 절차라는 연결을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입력과 출력은 개수 기준을 함께 설명한다. 입력은 고정된 인사말처럼 0개일 수도 있지만 출력은 최소 1개 이상이어야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왼쪽 모호한 명령을 먼저 공개하고 학생이 개선안을 말한 뒤 오른쪽 명령을 공개한다.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운영 주소: https://algorithm-studio-ten.vercel.app/. 학생들이 처음 접속하므로 화면이 모두 뜬 뒤 실습 탭을 누르게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강사가 한 문장을 시범 입력한 뒤 학생 실습으로 넘긴다. 명령이 실패해도 바로 답을 알려주지 않고 어떤 정보가 빠졌는지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실습 종료 5분 전에 수정 실행을 시작하도록 안내한다.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대표</a:t>
            </a:r>
            <a:r>
              <a:rPr dirty="0"/>
              <a:t> </a:t>
            </a:r>
            <a:r>
              <a:rPr dirty="0" err="1"/>
              <a:t>학생</a:t>
            </a:r>
            <a:r>
              <a:rPr dirty="0"/>
              <a:t> 1~2명의 </a:t>
            </a:r>
            <a:r>
              <a:rPr dirty="0" err="1"/>
              <a:t>수정</a:t>
            </a:r>
            <a:r>
              <a:rPr dirty="0"/>
              <a:t> </a:t>
            </a:r>
            <a:r>
              <a:rPr dirty="0" err="1"/>
              <a:t>전후</a:t>
            </a:r>
            <a:r>
              <a:rPr dirty="0"/>
              <a:t> </a:t>
            </a:r>
            <a:r>
              <a:rPr dirty="0" err="1"/>
              <a:t>명령을</a:t>
            </a:r>
            <a:r>
              <a:rPr dirty="0"/>
              <a:t> </a:t>
            </a:r>
            <a:r>
              <a:rPr dirty="0" err="1"/>
              <a:t>듣고</a:t>
            </a:r>
            <a:r>
              <a:rPr dirty="0"/>
              <a:t> 5대 </a:t>
            </a:r>
            <a:r>
              <a:rPr dirty="0" err="1"/>
              <a:t>조건</a:t>
            </a:r>
            <a:r>
              <a:rPr dirty="0"/>
              <a:t> 중 </a:t>
            </a:r>
            <a:r>
              <a:rPr dirty="0" err="1"/>
              <a:t>어느</a:t>
            </a:r>
            <a:r>
              <a:rPr dirty="0"/>
              <a:t> </a:t>
            </a:r>
            <a:r>
              <a:rPr dirty="0" err="1"/>
              <a:t>조건이</a:t>
            </a:r>
            <a:r>
              <a:rPr dirty="0"/>
              <a:t> </a:t>
            </a:r>
            <a:r>
              <a:rPr dirty="0" err="1"/>
              <a:t>좋아졌는지</a:t>
            </a:r>
            <a:r>
              <a:rPr dirty="0"/>
              <a:t> </a:t>
            </a:r>
            <a:r>
              <a:rPr dirty="0" err="1"/>
              <a:t>연결한다</a:t>
            </a:r>
            <a:r>
              <a:rPr dirty="0"/>
              <a:t>.</a:t>
            </a:r>
            <a:r>
              <a:rPr lang="en-US" dirty="0"/>
              <a:t> (</a:t>
            </a:r>
            <a:r>
              <a:rPr lang="ko-KR" altLang="en-US" dirty="0"/>
              <a:t>생략 가능</a:t>
            </a:r>
            <a:r>
              <a:rPr lang="en-US" altLang="ko-KR" dirty="0"/>
              <a:t>)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2차시 시작 화면. 애니메이션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순서도는 외우는 규격보다 생각을 전달하는 지도라는 의미를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단말, 자료, 판단, 처리 순서로 한 번에 하나씩 공개한다. 색상만으로 의미를 구분하지 않고 이름과 모양을 함께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모든 알고리즘에 세 구조를 억지로 넣을 필요는 없다. 문제에 필요한 구조를 선택한다고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시작부터 종료까지 노드와 연결선을 위에서 아래로 공개한다.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입력, 판단, 예 흐름, 아니오 흐름 순서로 공개한다. 학생에게 자신의 키를 예로 들어 어느 길을 따라갈지 질문한다.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마지막 클릭에서 불일치 처리 뒤 입력으로 돌아가는 반복선을 공개한다. 반복에도 끝나는 조건이 필요하다고 연결한다.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학생이 순차 탭에 도착했는지 확인한 뒤 전체 실습을 시작한다.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학생이 순서를 바꾸어 실행했을 때 결과가 어떻게 달라지는지 한 번 확인하게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학생이 한 값만 실행하고 넘어가지 않도록 기준보다 작은 값과 큰 값을 각각 실행하게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반복선 연결이 가장 어려운 단계다. 틀렸을 때 돌아갈 위치를 먼저 손가락으로 짚게 한 뒤 연결하게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실행이 멈춘 위치가 반드시 원인이라는 뜻은 아니라고 안내한다. 위쪽 연결부터 차례로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진도가 빠른 학생만 확장 활동으로 보낸다. 백지 공방에서 세 구조를 모두 쓰도록 요구하지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학생이 손가락으로 번호를 표시한 뒤 정답을 공개한다.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5cq54MFQCo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lgorithm-studio-ten.vercel.app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F2AF5EE-D2F9-4453-91E8-A679037545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E8791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5D7DEC-FE57-4DFA-BDD2-3B0FC4B6AB62}"/>
              </a:ext>
            </a:extLst>
          </p:cNvPr>
          <p:cNvSpPr>
            <a:spLocks noGrp="1"/>
          </p:cNvSpPr>
          <p:nvPr/>
        </p:nvSpPr>
        <p:spPr>
          <a:xfrm>
            <a:off x="876300" y="1000125"/>
            <a:ext cx="3619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중학교 정보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E013190-4D7E-40ED-A8FD-4414DC90E86E}"/>
              </a:ext>
            </a:extLst>
          </p:cNvPr>
          <p:cNvSpPr>
            <a:spLocks noGrp="1"/>
          </p:cNvSpPr>
          <p:nvPr/>
        </p:nvSpPr>
        <p:spPr>
          <a:xfrm>
            <a:off x="819150" y="1524000"/>
            <a:ext cx="7334250" cy="16002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96000"/>
              </a:lnSpc>
              <a:buNone/>
              <a:defRPr sz="37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37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알고리즘 설계와</a:t>
            </a:r>
          </a:p>
          <a:p>
            <a:pPr algn="l">
              <a:lnSpc>
                <a:spcPct val="96000"/>
              </a:lnSpc>
              <a:buNone/>
              <a:defRPr sz="37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37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순서도 연구소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3A70167-0562-46A2-A666-FF3E63FF46A4}"/>
              </a:ext>
            </a:extLst>
          </p:cNvPr>
          <p:cNvSpPr>
            <a:spLocks noGrp="1"/>
          </p:cNvSpPr>
          <p:nvPr/>
        </p:nvSpPr>
        <p:spPr>
          <a:xfrm>
            <a:off x="876300" y="3381375"/>
            <a:ext cx="8572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명확한 명령을 만들고, 생각의 흐름을 그림으로 표현합니다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8F2680E-23BD-441B-A8BD-6D9D98726D12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2952750" cy="590550"/>
          </a:xfrm>
          <a:prstGeom prst="roundRect">
            <a:avLst>
              <a:gd name="adj" fmla="val 22581"/>
            </a:avLst>
          </a:prstGeom>
          <a:solidFill>
            <a:srgbClr val="FFF2E3"/>
          </a:solidFill>
          <a:ln w="9525">
            <a:solidFill>
              <a:srgbClr val="F3C895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1차시  알고리즘 설계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D1744D4-EC03-476B-9DA7-F182664F4914}"/>
              </a:ext>
            </a:extLst>
          </p:cNvPr>
          <p:cNvSpPr>
            <a:spLocks noGrp="1"/>
          </p:cNvSpPr>
          <p:nvPr/>
        </p:nvSpPr>
        <p:spPr>
          <a:xfrm>
            <a:off x="4019550" y="4524375"/>
            <a:ext cx="2952750" cy="590550"/>
          </a:xfrm>
          <a:prstGeom prst="roundRect">
            <a:avLst>
              <a:gd name="adj" fmla="val 22581"/>
            </a:avLst>
          </a:prstGeom>
          <a:solidFill>
            <a:srgbClr val="EAF1FF"/>
          </a:solidFill>
          <a:ln w="9525">
            <a:solidFill>
              <a:srgbClr val="B8CCFF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2차시  순서도 연구소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04B3B62-29A8-4FB6-82CD-1A0602AFB543}"/>
              </a:ext>
            </a:extLst>
          </p:cNvPr>
          <p:cNvSpPr>
            <a:spLocks noGrp="1"/>
          </p:cNvSpPr>
          <p:nvPr/>
        </p:nvSpPr>
        <p:spPr>
          <a:xfrm>
            <a:off x="876300" y="59817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95238"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정보 알고리즘 스튜디오</a:t>
            </a:r>
          </a:p>
        </p:txBody>
      </p:sp>
    </p:spTree>
    <p:extLst>
      <p:ext uri="{BB962C8B-B14F-4D97-AF65-F5344CB8AC3E}">
        <p14:creationId xmlns:p14="http://schemas.microsoft.com/office/powerpoint/2010/main" val="102210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D3E00152-9CCC-4D4B-BE9B-A68CB90F17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791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94ACC89-4028-4159-8BEE-7A4B33B74FA8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오늘의 흐름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B10F35-A9F3-43DD-ADB6-740BB0918852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두 번의 45분, 두 가지 생각 도구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D5613C-50A9-4729-930C-8B5BA57238DF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설명 20분 뒤 각자 웹앱에서 직접 실행합니다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3EB7A53-1D10-4C81-A7AA-093A2F9B3E06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A3DBA57-2BEB-4230-AD27-6720945A4ED7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1714500" cy="333375"/>
          </a:xfrm>
          <a:prstGeom prst="roundRect">
            <a:avLst>
              <a:gd name="adj" fmla="val 50000"/>
            </a:avLst>
          </a:prstGeom>
          <a:solidFill>
            <a:srgbClr val="E87918"/>
          </a:solidFill>
          <a:ln w="0">
            <a:noFill/>
          </a:ln>
        </p:spPr>
        <p:txBody>
          <a:bodyPr wrap="square" lIns="76200" tIns="47625" rIns="76200" bIns="47625" anchor="ctr">
            <a:normAutofit fontScale="80659" lnSpcReduction="10000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CF66E6-4562-4EAD-B532-8149DFB1E046}"/>
              </a:ext>
            </a:extLst>
          </p:cNvPr>
          <p:cNvSpPr>
            <a:spLocks noGrp="1"/>
          </p:cNvSpPr>
          <p:nvPr/>
        </p:nvSpPr>
        <p:spPr>
          <a:xfrm>
            <a:off x="571500" y="2133600"/>
            <a:ext cx="4857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명령을 정확하게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4FAE549-8CB0-4B30-A426-419293022103}"/>
              </a:ext>
            </a:extLst>
          </p:cNvPr>
          <p:cNvSpPr>
            <a:spLocks noGrp="1"/>
          </p:cNvSpPr>
          <p:nvPr/>
        </p:nvSpPr>
        <p:spPr>
          <a:xfrm>
            <a:off x="571500" y="2667000"/>
            <a:ext cx="5143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영상 관찰  ·  알고리즘 5대 조건  ·  샌드위치 로봇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7AE4E59-1FC9-4EB4-A4AA-0907056ABF1F}"/>
              </a:ext>
            </a:extLst>
          </p:cNvPr>
          <p:cNvSpPr>
            <a:spLocks noGrp="1"/>
          </p:cNvSpPr>
          <p:nvPr/>
        </p:nvSpPr>
        <p:spPr>
          <a:xfrm>
            <a:off x="6477000" y="1657350"/>
            <a:ext cx="1714500" cy="33337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</a:ln>
        </p:spPr>
        <p:txBody>
          <a:bodyPr wrap="square" lIns="76200" tIns="47625" rIns="76200" bIns="47625" anchor="ctr">
            <a:normAutofit fontScale="80659" lnSpcReduction="10000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2차시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0F1308-9680-4B1B-8ED7-A439F7EBEBF5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4857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생각의 흐름을 보이게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6BEF2A-84A2-494B-BAB9-A0154DB56D94}"/>
              </a:ext>
            </a:extLst>
          </p:cNvPr>
          <p:cNvSpPr>
            <a:spLocks noGrp="1"/>
          </p:cNvSpPr>
          <p:nvPr/>
        </p:nvSpPr>
        <p:spPr>
          <a:xfrm>
            <a:off x="6477000" y="2667000"/>
            <a:ext cx="4953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4대 기호  ·  순차·선택·반복  ·  실행과 수정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B604642-5570-4CB7-82E6-D35C1C30488D}"/>
              </a:ext>
            </a:extLst>
          </p:cNvPr>
          <p:cNvSpPr>
            <a:spLocks noGrp="1"/>
          </p:cNvSpPr>
          <p:nvPr/>
        </p:nvSpPr>
        <p:spPr>
          <a:xfrm>
            <a:off x="1428750" y="3857625"/>
            <a:ext cx="9334500" cy="1190625"/>
          </a:xfrm>
          <a:prstGeom prst="roundRect">
            <a:avLst>
              <a:gd name="adj" fmla="val 11200"/>
            </a:avLst>
          </a:prstGeom>
          <a:solidFill>
            <a:srgbClr val="F4F7FB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오늘의 목표</a:t>
            </a:r>
          </a:p>
          <a:p>
            <a:pPr algn="ctr">
              <a:lnSpc>
                <a:spcPct val="105000"/>
              </a:lnSpc>
              <a:buNone/>
              <a:defRPr sz="20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컴퓨터가 그대로 실행할 수 있는 절차를 만들고 순서도로 표현하기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FC38AB-60B1-47D4-B77B-F4C0195E1A19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73638" lnSpcReduction="10000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rPr>
              <a:t>정보 알고리즘 스튜디오</a:t>
            </a:r>
          </a:p>
        </p:txBody>
      </p:sp>
    </p:spTree>
    <p:extLst>
      <p:ext uri="{BB962C8B-B14F-4D97-AF65-F5344CB8AC3E}">
        <p14:creationId xmlns:p14="http://schemas.microsoft.com/office/powerpoint/2010/main" val="1902334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98BF0B-73C2-4038-8AB7-15BA6065FF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791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B3B3F53-5BA4-470A-BCF6-7DCF027DE70B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1차시  알고리즘 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FBD3027-6A6B-41EE-B518-AF84C5B57ACA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로봇에게 이렇게 말하면 어떻게 될까?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DE8E878-C055-4A6E-A005-4A54B2301002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사람은 알아듣지만 로봇은 눈치껏 처리하지 못합니다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66A8F1D-44AC-422F-A6B1-3AF83B6DE84A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BB0FD1D-1EBA-495D-87B7-2FBC79A85435}"/>
              </a:ext>
            </a:extLst>
          </p:cNvPr>
          <p:cNvSpPr>
            <a:spLocks noGrp="1"/>
          </p:cNvSpPr>
          <p:nvPr/>
        </p:nvSpPr>
        <p:spPr>
          <a:xfrm>
            <a:off x="1666875" y="1952625"/>
            <a:ext cx="8858250" cy="1095375"/>
          </a:xfrm>
          <a:prstGeom prst="roundRect">
            <a:avLst>
              <a:gd name="adj" fmla="val 12174"/>
            </a:avLst>
          </a:prstGeom>
          <a:solidFill>
            <a:srgbClr val="FFF2E3"/>
          </a:solidFill>
          <a:ln w="9525">
            <a:solidFill>
              <a:srgbClr val="F1C58D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31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31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“식빵에 잼을 발라 줘”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B1F4582-BAA8-4685-8211-97E6211693C0}"/>
              </a:ext>
            </a:extLst>
          </p:cNvPr>
          <p:cNvSpPr>
            <a:spLocks noGrp="1"/>
          </p:cNvSpPr>
          <p:nvPr/>
        </p:nvSpPr>
        <p:spPr>
          <a:xfrm>
            <a:off x="1047750" y="3619500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생각해 보기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32072B8-F7C7-4C2E-84FD-0CFE1360B471}"/>
              </a:ext>
            </a:extLst>
          </p:cNvPr>
          <p:cNvSpPr>
            <a:spLocks noGrp="1"/>
          </p:cNvSpPr>
          <p:nvPr/>
        </p:nvSpPr>
        <p:spPr>
          <a:xfrm>
            <a:off x="1047750" y="4048125"/>
            <a:ext cx="40005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93006"/>
          </a:bodyPr>
          <a:lstStyle/>
          <a:p>
            <a:pPr algn="l">
              <a:lnSpc>
                <a:spcPct val="120000"/>
              </a:lnSpc>
              <a:buNone/>
              <a:defRPr sz="210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어떤 식빵에?</a:t>
            </a:r>
          </a:p>
          <a:p>
            <a:pPr algn="l">
              <a:lnSpc>
                <a:spcPct val="120000"/>
              </a:lnSpc>
              <a:buNone/>
              <a:defRPr sz="210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무엇으로?</a:t>
            </a:r>
          </a:p>
          <a:p>
            <a:pPr algn="l">
              <a:lnSpc>
                <a:spcPct val="120000"/>
              </a:lnSpc>
              <a:buNone/>
              <a:defRPr sz="210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어느 면에?</a:t>
            </a:r>
          </a:p>
          <a:p>
            <a:pPr algn="l">
              <a:lnSpc>
                <a:spcPct val="120000"/>
              </a:lnSpc>
              <a:buNone/>
              <a:defRPr sz="210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얼마나 많이?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674FB15-5E36-409D-B1C2-B1240EAEE097}"/>
              </a:ext>
            </a:extLst>
          </p:cNvPr>
          <p:cNvSpPr>
            <a:spLocks noGrp="1"/>
          </p:cNvSpPr>
          <p:nvPr/>
        </p:nvSpPr>
        <p:spPr>
          <a:xfrm>
            <a:off x="6191250" y="4000500"/>
            <a:ext cx="47625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3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말하지 않은 내용을</a:t>
            </a:r>
          </a:p>
          <a:p>
            <a:pPr algn="ctr">
              <a:lnSpc>
                <a:spcPct val="105000"/>
              </a:lnSpc>
              <a:buNone/>
              <a:defRPr sz="23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로봇이 스스로 정해도 될까?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EE8922C-83E1-4FB1-AE49-9DE8B1E7F768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73638" lnSpcReduction="10000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rPr>
              <a:t>정보 알고리즘 스튜디오</a:t>
            </a:r>
          </a:p>
        </p:txBody>
      </p:sp>
    </p:spTree>
    <p:extLst>
      <p:ext uri="{BB962C8B-B14F-4D97-AF65-F5344CB8AC3E}">
        <p14:creationId xmlns:p14="http://schemas.microsoft.com/office/powerpoint/2010/main" val="1298274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61D88321-5BE8-4F20-AA08-61C92A0111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791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EFC8A3-AC97-47C3-BD53-44C1024E0BC5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1차시  알고리즘 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636801-4727-4CB1-9633-644006E43B25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영상 속 로봇은 왜 엉뚱하게 행동할까?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C0B0E25-C22C-4C30-B896-8AD1F287017B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재생 시간 약 1분 33초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7BB5FB-1A8F-41F5-9EFC-97AC90FBEE58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F7DF679-E027-4FC0-8F70-41B5454B6B23}"/>
              </a:ext>
            </a:extLst>
          </p:cNvPr>
          <p:cNvSpPr>
            <a:spLocks noGrp="1"/>
          </p:cNvSpPr>
          <p:nvPr/>
        </p:nvSpPr>
        <p:spPr>
          <a:xfrm>
            <a:off x="1143000" y="2190750"/>
            <a:ext cx="1714500" cy="171450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5103C0-9764-410F-BA62-FB1B7CCF4EAC}"/>
              </a:ext>
            </a:extLst>
          </p:cNvPr>
          <p:cNvSpPr>
            <a:spLocks noGrp="1"/>
          </p:cNvSpPr>
          <p:nvPr/>
        </p:nvSpPr>
        <p:spPr>
          <a:xfrm>
            <a:off x="3333750" y="2333625"/>
            <a:ext cx="7239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  <a:hlinkClick r:id="rId3"/>
              </a:rPr>
              <a:t>샌드위치 코딩 영상 재생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27EDC88-47F5-4C6C-BA1C-D607423C0D86}"/>
              </a:ext>
            </a:extLst>
          </p:cNvPr>
          <p:cNvSpPr>
            <a:spLocks noGrp="1"/>
          </p:cNvSpPr>
          <p:nvPr/>
        </p:nvSpPr>
        <p:spPr>
          <a:xfrm>
            <a:off x="3333750" y="3286125"/>
            <a:ext cx="7239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관찰할 점</a:t>
            </a:r>
          </a:p>
          <a:p>
            <a:pPr algn="l">
              <a:lnSpc>
                <a:spcPct val="105000"/>
              </a:lnSpc>
              <a:buNone/>
              <a:defRPr sz="180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아이가 한 말과 아빠가 실제로 한 행동의 차이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1C3A34E-E0AB-4FBF-A739-604AAEC3B0BA}"/>
              </a:ext>
            </a:extLst>
          </p:cNvPr>
          <p:cNvSpPr>
            <a:spLocks noGrp="1"/>
          </p:cNvSpPr>
          <p:nvPr/>
        </p:nvSpPr>
        <p:spPr>
          <a:xfrm>
            <a:off x="1666875" y="4953000"/>
            <a:ext cx="8858250" cy="781050"/>
          </a:xfrm>
          <a:prstGeom prst="roundRect">
            <a:avLst>
              <a:gd name="adj" fmla="val 17073"/>
            </a:avLst>
          </a:prstGeom>
          <a:solidFill>
            <a:srgbClr val="F4F7FB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링크가 열리지 않으면 브라우저 주소창에 아래 주소를 입력하세요</a:t>
            </a:r>
          </a:p>
          <a:p>
            <a:pPr algn="ctr">
              <a:lnSpc>
                <a:spcPct val="105000"/>
              </a:lnSpc>
              <a:buNone/>
              <a:def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youtube.com/watch?v=I5cq54MFQCo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B0C6FAB-E91F-4828-8CE9-E77960F98C32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73638" lnSpcReduction="10000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rPr>
              <a:t>정보 알고리즘 스튜디오</a:t>
            </a:r>
          </a:p>
        </p:txBody>
      </p:sp>
    </p:spTree>
    <p:extLst>
      <p:ext uri="{BB962C8B-B14F-4D97-AF65-F5344CB8AC3E}">
        <p14:creationId xmlns:p14="http://schemas.microsoft.com/office/powerpoint/2010/main" val="640990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997FDF86-3E6E-4FDF-87ED-D21F00A15A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791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C74BFA0-3C04-4BC5-8C87-FE33A10095B3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1차시  알고리즘 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638CA3D-09D9-4899-8079-045543181876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영상에서 찾은 세 가지 문제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5CDAB40-BA1C-4A3B-81ED-925151884E58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먼저 학생 의견을 듣고 클릭하여 하나씩 확인합니다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21BD173-082B-4060-84CC-439866FF01F3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6" name="ANIM_01_A">
            <a:extLst>
              <a:ext uri="{FF2B5EF4-FFF2-40B4-BE49-F238E27FC236}">
                <a16:creationId xmlns:a16="http://schemas.microsoft.com/office/drawing/2014/main" id="{35CE651B-7F31-4030-9BF0-AE21CAFD08C2}"/>
              </a:ext>
            </a:extLst>
          </p:cNvPr>
          <p:cNvSpPr>
            <a:spLocks noGrp="1"/>
          </p:cNvSpPr>
          <p:nvPr/>
        </p:nvSpPr>
        <p:spPr>
          <a:xfrm>
            <a:off x="809625" y="20193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7918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 fontScale="99929"/>
          </a:bodyPr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ANIM_01_B">
            <a:extLst>
              <a:ext uri="{FF2B5EF4-FFF2-40B4-BE49-F238E27FC236}">
                <a16:creationId xmlns:a16="http://schemas.microsoft.com/office/drawing/2014/main" id="{A88F05AB-F75A-4D03-A103-20AA2667F0B6}"/>
              </a:ext>
            </a:extLst>
          </p:cNvPr>
          <p:cNvSpPr>
            <a:spLocks noGrp="1"/>
          </p:cNvSpPr>
          <p:nvPr/>
        </p:nvSpPr>
        <p:spPr>
          <a:xfrm>
            <a:off x="1666875" y="1952625"/>
            <a:ext cx="8953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도구와 대상을 정확히 말하지 않았다</a:t>
            </a:r>
          </a:p>
        </p:txBody>
      </p:sp>
      <p:sp>
        <p:nvSpPr>
          <p:cNvPr id="8" name="ANIM_02_A">
            <a:extLst>
              <a:ext uri="{FF2B5EF4-FFF2-40B4-BE49-F238E27FC236}">
                <a16:creationId xmlns:a16="http://schemas.microsoft.com/office/drawing/2014/main" id="{D4A2C836-FEDB-4F54-8248-FDE9C80DDA86}"/>
              </a:ext>
            </a:extLst>
          </p:cNvPr>
          <p:cNvSpPr>
            <a:spLocks noGrp="1"/>
          </p:cNvSpPr>
          <p:nvPr/>
        </p:nvSpPr>
        <p:spPr>
          <a:xfrm>
            <a:off x="809625" y="32385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7918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 fontScale="99929"/>
          </a:bodyPr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ANIM_02_B">
            <a:extLst>
              <a:ext uri="{FF2B5EF4-FFF2-40B4-BE49-F238E27FC236}">
                <a16:creationId xmlns:a16="http://schemas.microsoft.com/office/drawing/2014/main" id="{B1A47566-F9AB-45CD-8F63-C36A0D46CB0D}"/>
              </a:ext>
            </a:extLst>
          </p:cNvPr>
          <p:cNvSpPr>
            <a:spLocks noGrp="1"/>
          </p:cNvSpPr>
          <p:nvPr/>
        </p:nvSpPr>
        <p:spPr>
          <a:xfrm>
            <a:off x="1666875" y="3171825"/>
            <a:ext cx="8953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동작의 순서가 충분히 나뉘지 않았다</a:t>
            </a:r>
          </a:p>
        </p:txBody>
      </p:sp>
      <p:sp>
        <p:nvSpPr>
          <p:cNvPr id="10" name="ANIM_03_A">
            <a:extLst>
              <a:ext uri="{FF2B5EF4-FFF2-40B4-BE49-F238E27FC236}">
                <a16:creationId xmlns:a16="http://schemas.microsoft.com/office/drawing/2014/main" id="{C4EE0007-5B2B-487E-8040-A0D4D039B7F6}"/>
              </a:ext>
            </a:extLst>
          </p:cNvPr>
          <p:cNvSpPr>
            <a:spLocks noGrp="1"/>
          </p:cNvSpPr>
          <p:nvPr/>
        </p:nvSpPr>
        <p:spPr>
          <a:xfrm>
            <a:off x="809625" y="44577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7918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 fontScale="99929"/>
          </a:bodyPr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" name="ANIM_03_B">
            <a:extLst>
              <a:ext uri="{FF2B5EF4-FFF2-40B4-BE49-F238E27FC236}">
                <a16:creationId xmlns:a16="http://schemas.microsoft.com/office/drawing/2014/main" id="{EC37EBBD-DDFE-427B-AD1F-608EEA72438E}"/>
              </a:ext>
            </a:extLst>
          </p:cNvPr>
          <p:cNvSpPr>
            <a:spLocks noGrp="1"/>
          </p:cNvSpPr>
          <p:nvPr/>
        </p:nvSpPr>
        <p:spPr>
          <a:xfrm>
            <a:off x="1666875" y="4391025"/>
            <a:ext cx="8953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사람만 아는 상식을 로봇도 안다고 생각했다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2F1AE87-9C42-4AB9-BBFE-B54B692D2C8B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73638" lnSpcReduction="10000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rPr>
              <a:t>정보 알고리즘 스튜디오</a:t>
            </a:r>
          </a:p>
        </p:txBody>
      </p:sp>
    </p:spTree>
    <p:extLst>
      <p:ext uri="{BB962C8B-B14F-4D97-AF65-F5344CB8AC3E}">
        <p14:creationId xmlns:p14="http://schemas.microsoft.com/office/powerpoint/2010/main" val="148515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6511232B-2689-4635-974C-AAE76DCA35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791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136F6E6-64A9-4408-BF34-D1F4F3166458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1차시  알고리즘 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E9C6A52-CF1F-4A52-81C6-9CB529A1E7B0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알고리즘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7E45E9A-8077-422C-8EA6-A172ED57682D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문제를 해결하기 위한 논리적인 절차나 방법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543B83-2B77-4E14-9DCA-2B6CD56E4102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345ADA5-4E1F-4D54-8993-C332D9BDBC18}"/>
              </a:ext>
            </a:extLst>
          </p:cNvPr>
          <p:cNvSpPr>
            <a:spLocks noGrp="1"/>
          </p:cNvSpPr>
          <p:nvPr/>
        </p:nvSpPr>
        <p:spPr>
          <a:xfrm>
            <a:off x="1000125" y="2619375"/>
            <a:ext cx="2381250" cy="876300"/>
          </a:xfrm>
          <a:prstGeom prst="roundRect">
            <a:avLst>
              <a:gd name="adj" fmla="val 15217"/>
            </a:avLst>
          </a:prstGeom>
          <a:solidFill>
            <a:srgbClr val="F4F7FB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현재 상태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A45121F-4BFC-4F80-874B-C06849E084D3}"/>
              </a:ext>
            </a:extLst>
          </p:cNvPr>
          <p:cNvSpPr>
            <a:spLocks noGrp="1"/>
          </p:cNvSpPr>
          <p:nvPr/>
        </p:nvSpPr>
        <p:spPr>
          <a:xfrm>
            <a:off x="4905375" y="2381250"/>
            <a:ext cx="2381250" cy="1352550"/>
          </a:xfrm>
          <a:prstGeom prst="roundRect">
            <a:avLst>
              <a:gd name="adj" fmla="val 9859"/>
            </a:avLst>
          </a:prstGeom>
          <a:solidFill>
            <a:srgbClr val="FFF2E3"/>
          </a:solidFill>
          <a:ln w="9525">
            <a:solidFill>
              <a:srgbClr val="F0BB78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논리적인 절차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6441751-5CEA-44C2-8357-146796C37BE0}"/>
              </a:ext>
            </a:extLst>
          </p:cNvPr>
          <p:cNvSpPr>
            <a:spLocks noGrp="1"/>
          </p:cNvSpPr>
          <p:nvPr/>
        </p:nvSpPr>
        <p:spPr>
          <a:xfrm>
            <a:off x="8810625" y="2619375"/>
            <a:ext cx="2381250" cy="876300"/>
          </a:xfrm>
          <a:prstGeom prst="roundRect">
            <a:avLst>
              <a:gd name="adj" fmla="val 15217"/>
            </a:avLst>
          </a:prstGeom>
          <a:solidFill>
            <a:srgbClr val="F4F7FB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목표 상태</a:t>
            </a:r>
          </a:p>
        </p:txBody>
      </p:sp>
      <p:cxnSp>
        <p:nvCxnSpPr>
          <p:cNvPr id="21" name="직선 화살표 연결선 20"/>
          <p:cNvCxnSpPr>
            <a:stCxn id="6" idx="3"/>
            <a:endCxn id="7" idx="1"/>
          </p:cNvCxnSpPr>
          <p:nvPr/>
        </p:nvCxnSpPr>
        <p:spPr>
          <a:xfrm>
            <a:off x="3381375" y="3057525"/>
            <a:ext cx="1524000" cy="0"/>
          </a:xfrm>
          <a:prstGeom prst="straightConnector1">
            <a:avLst/>
          </a:prstGeom>
          <a:ln w="28575">
            <a:solidFill>
              <a:srgbClr val="E87918"/>
            </a:solidFill>
            <a:prstDash val="solid"/>
            <a:tailEnd type="triangle" w="sm" len="sm"/>
          </a:ln>
        </p:spPr>
      </p:cxnSp>
      <p:cxnSp>
        <p:nvCxnSpPr>
          <p:cNvPr id="22" name="직선 화살표 연결선 21"/>
          <p:cNvCxnSpPr>
            <a:stCxn id="7" idx="3"/>
            <a:endCxn id="8" idx="1"/>
          </p:cNvCxnSpPr>
          <p:nvPr/>
        </p:nvCxnSpPr>
        <p:spPr>
          <a:xfrm>
            <a:off x="7286625" y="3057525"/>
            <a:ext cx="1524000" cy="0"/>
          </a:xfrm>
          <a:prstGeom prst="straightConnector1">
            <a:avLst/>
          </a:prstGeom>
          <a:ln w="28575">
            <a:solidFill>
              <a:srgbClr val="E87918"/>
            </a:solidFill>
            <a:prstDash val="solid"/>
            <a:tailEnd type="triangle" w="sm" len="sm"/>
          </a:ln>
        </p:spPr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0F5D26C-D9DF-4D4A-A298-3A04828A23D9}"/>
              </a:ext>
            </a:extLst>
          </p:cNvPr>
          <p:cNvSpPr>
            <a:spLocks noGrp="1"/>
          </p:cNvSpPr>
          <p:nvPr/>
        </p:nvSpPr>
        <p:spPr>
          <a:xfrm>
            <a:off x="1381125" y="4762500"/>
            <a:ext cx="9429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좋은 알고리즘은 다른 사람이 그대로 따라 해도 같은 결과에 도달합니다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EDEECB-72EE-4CEE-9F7C-A4C6FECF0D64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73638" lnSpcReduction="10000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rPr>
              <a:t>정보 알고리즘 스튜디오</a:t>
            </a:r>
          </a:p>
        </p:txBody>
      </p:sp>
    </p:spTree>
    <p:extLst>
      <p:ext uri="{BB962C8B-B14F-4D97-AF65-F5344CB8AC3E}">
        <p14:creationId xmlns:p14="http://schemas.microsoft.com/office/powerpoint/2010/main" val="281708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4CE14829-9940-4531-A6EB-A2D49B0ED6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791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4AE4AF7-0A16-4906-8E39-55758FA5C552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1차시  알고리즘 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FDD7862-410B-40FB-8C4D-31790A3AAC38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알고리즘의 5대 조건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44DCCED-131A-443D-9C1D-FDFE3D7CCA54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각 조건이 빠졌을 때 어떤 문제가 생기는지 생각해 봅니다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E44230-7D1D-4302-A9C5-D8D053894393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6" name="ANIM_01_A">
            <a:extLst>
              <a:ext uri="{FF2B5EF4-FFF2-40B4-BE49-F238E27FC236}">
                <a16:creationId xmlns:a16="http://schemas.microsoft.com/office/drawing/2014/main" id="{4F4A6B9C-67CB-459A-AAC5-DB6C60610F62}"/>
              </a:ext>
            </a:extLst>
          </p:cNvPr>
          <p:cNvSpPr>
            <a:spLocks noGrp="1"/>
          </p:cNvSpPr>
          <p:nvPr/>
        </p:nvSpPr>
        <p:spPr>
          <a:xfrm>
            <a:off x="619125" y="1838325"/>
            <a:ext cx="523875" cy="523875"/>
          </a:xfrm>
          <a:prstGeom prst="roundRect">
            <a:avLst>
              <a:gd name="adj" fmla="val 50000"/>
            </a:avLst>
          </a:prstGeom>
          <a:solidFill>
            <a:srgbClr val="13A874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ANIM_01_B">
            <a:extLst>
              <a:ext uri="{FF2B5EF4-FFF2-40B4-BE49-F238E27FC236}">
                <a16:creationId xmlns:a16="http://schemas.microsoft.com/office/drawing/2014/main" id="{EB87DAC7-C75D-4F35-8D53-25452A5DD0D8}"/>
              </a:ext>
            </a:extLst>
          </p:cNvPr>
          <p:cNvSpPr>
            <a:spLocks noGrp="1"/>
          </p:cNvSpPr>
          <p:nvPr/>
        </p:nvSpPr>
        <p:spPr>
          <a:xfrm>
            <a:off x="1352550" y="1752600"/>
            <a:ext cx="2000250" cy="6858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13A874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13A874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13A874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8" name="ANIM_01_C">
            <a:extLst>
              <a:ext uri="{FF2B5EF4-FFF2-40B4-BE49-F238E27FC236}">
                <a16:creationId xmlns:a16="http://schemas.microsoft.com/office/drawing/2014/main" id="{92DB143E-2CE1-4263-9108-9AA582D5591D}"/>
              </a:ext>
            </a:extLst>
          </p:cNvPr>
          <p:cNvSpPr>
            <a:spLocks noGrp="1"/>
          </p:cNvSpPr>
          <p:nvPr/>
        </p:nvSpPr>
        <p:spPr>
          <a:xfrm>
            <a:off x="3638550" y="1752600"/>
            <a:ext cx="44767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필요한 자료를 받는다</a:t>
            </a:r>
          </a:p>
        </p:txBody>
      </p:sp>
      <p:sp>
        <p:nvSpPr>
          <p:cNvPr id="9" name="ANIM_01_D">
            <a:extLst>
              <a:ext uri="{FF2B5EF4-FFF2-40B4-BE49-F238E27FC236}">
                <a16:creationId xmlns:a16="http://schemas.microsoft.com/office/drawing/2014/main" id="{19A8452C-9556-4CA0-9743-F52D5737F91F}"/>
              </a:ext>
            </a:extLst>
          </p:cNvPr>
          <p:cNvSpPr>
            <a:spLocks noGrp="1"/>
          </p:cNvSpPr>
          <p:nvPr/>
        </p:nvSpPr>
        <p:spPr>
          <a:xfrm>
            <a:off x="8572500" y="1847850"/>
            <a:ext cx="2667000" cy="495300"/>
          </a:xfrm>
          <a:prstGeom prst="roundRect">
            <a:avLst>
              <a:gd name="adj" fmla="val 26923"/>
            </a:avLst>
          </a:prstGeom>
          <a:solidFill>
            <a:srgbClr val="F4F7FB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0개 이상</a:t>
            </a:r>
          </a:p>
        </p:txBody>
      </p:sp>
      <p:sp>
        <p:nvSpPr>
          <p:cNvPr id="10" name="ANIM_02_A">
            <a:extLst>
              <a:ext uri="{FF2B5EF4-FFF2-40B4-BE49-F238E27FC236}">
                <a16:creationId xmlns:a16="http://schemas.microsoft.com/office/drawing/2014/main" id="{3CECBF39-B0ED-41DC-91D1-2463F64D7E40}"/>
              </a:ext>
            </a:extLst>
          </p:cNvPr>
          <p:cNvSpPr>
            <a:spLocks noGrp="1"/>
          </p:cNvSpPr>
          <p:nvPr/>
        </p:nvSpPr>
        <p:spPr>
          <a:xfrm>
            <a:off x="619125" y="2724150"/>
            <a:ext cx="523875" cy="523875"/>
          </a:xfrm>
          <a:prstGeom prst="roundRect">
            <a:avLst>
              <a:gd name="adj" fmla="val 50000"/>
            </a:avLst>
          </a:prstGeom>
          <a:solidFill>
            <a:srgbClr val="2F75E8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ANIM_02_B">
            <a:extLst>
              <a:ext uri="{FF2B5EF4-FFF2-40B4-BE49-F238E27FC236}">
                <a16:creationId xmlns:a16="http://schemas.microsoft.com/office/drawing/2014/main" id="{D1CF2C97-031D-4141-99E6-88DE2B5943FA}"/>
              </a:ext>
            </a:extLst>
          </p:cNvPr>
          <p:cNvSpPr>
            <a:spLocks noGrp="1"/>
          </p:cNvSpPr>
          <p:nvPr/>
        </p:nvSpPr>
        <p:spPr>
          <a:xfrm>
            <a:off x="1352550" y="2638425"/>
            <a:ext cx="2000250" cy="6858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2F75E8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2F75E8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2F75E8"/>
                </a:solidFill>
                <a:latin typeface="맑은 고딕"/>
                <a:ea typeface="맑은 고딕"/>
                <a:cs typeface="맑은 고딕"/>
              </a:rPr>
              <a:t>출력</a:t>
            </a:r>
          </a:p>
        </p:txBody>
      </p:sp>
      <p:sp>
        <p:nvSpPr>
          <p:cNvPr id="12" name="ANIM_02_C">
            <a:extLst>
              <a:ext uri="{FF2B5EF4-FFF2-40B4-BE49-F238E27FC236}">
                <a16:creationId xmlns:a16="http://schemas.microsoft.com/office/drawing/2014/main" id="{BE5FA6AA-0A91-4C9F-A2EC-B752633D3472}"/>
              </a:ext>
            </a:extLst>
          </p:cNvPr>
          <p:cNvSpPr>
            <a:spLocks noGrp="1"/>
          </p:cNvSpPr>
          <p:nvPr/>
        </p:nvSpPr>
        <p:spPr>
          <a:xfrm>
            <a:off x="3638550" y="2638425"/>
            <a:ext cx="44767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결과를 내놓는다</a:t>
            </a:r>
          </a:p>
        </p:txBody>
      </p:sp>
      <p:sp>
        <p:nvSpPr>
          <p:cNvPr id="13" name="ANIM_02_D">
            <a:extLst>
              <a:ext uri="{FF2B5EF4-FFF2-40B4-BE49-F238E27FC236}">
                <a16:creationId xmlns:a16="http://schemas.microsoft.com/office/drawing/2014/main" id="{B496C29E-589F-4CAD-ABD2-0A40CAF69FFB}"/>
              </a:ext>
            </a:extLst>
          </p:cNvPr>
          <p:cNvSpPr>
            <a:spLocks noGrp="1"/>
          </p:cNvSpPr>
          <p:nvPr/>
        </p:nvSpPr>
        <p:spPr>
          <a:xfrm>
            <a:off x="8572500" y="2733675"/>
            <a:ext cx="2667000" cy="495300"/>
          </a:xfrm>
          <a:prstGeom prst="roundRect">
            <a:avLst>
              <a:gd name="adj" fmla="val 26923"/>
            </a:avLst>
          </a:prstGeom>
          <a:solidFill>
            <a:srgbClr val="F4F7FB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1개 이상</a:t>
            </a:r>
          </a:p>
        </p:txBody>
      </p:sp>
      <p:sp>
        <p:nvSpPr>
          <p:cNvPr id="14" name="ANIM_03_A">
            <a:extLst>
              <a:ext uri="{FF2B5EF4-FFF2-40B4-BE49-F238E27FC236}">
                <a16:creationId xmlns:a16="http://schemas.microsoft.com/office/drawing/2014/main" id="{CABBE6FD-B561-4CDA-9A4B-155C878D6B7C}"/>
              </a:ext>
            </a:extLst>
          </p:cNvPr>
          <p:cNvSpPr>
            <a:spLocks noGrp="1"/>
          </p:cNvSpPr>
          <p:nvPr/>
        </p:nvSpPr>
        <p:spPr>
          <a:xfrm>
            <a:off x="619125" y="3609975"/>
            <a:ext cx="523875" cy="523875"/>
          </a:xfrm>
          <a:prstGeom prst="roundRect">
            <a:avLst>
              <a:gd name="adj" fmla="val 50000"/>
            </a:avLst>
          </a:prstGeom>
          <a:solidFill>
            <a:srgbClr val="E87918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ANIM_03_B">
            <a:extLst>
              <a:ext uri="{FF2B5EF4-FFF2-40B4-BE49-F238E27FC236}">
                <a16:creationId xmlns:a16="http://schemas.microsoft.com/office/drawing/2014/main" id="{1B7D839D-ED8E-4530-B8B4-6A228B4E23E1}"/>
              </a:ext>
            </a:extLst>
          </p:cNvPr>
          <p:cNvSpPr>
            <a:spLocks noGrp="1"/>
          </p:cNvSpPr>
          <p:nvPr/>
        </p:nvSpPr>
        <p:spPr>
          <a:xfrm>
            <a:off x="1352550" y="3524250"/>
            <a:ext cx="2000250" cy="6858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E87918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명확성</a:t>
            </a:r>
          </a:p>
        </p:txBody>
      </p:sp>
      <p:sp>
        <p:nvSpPr>
          <p:cNvPr id="16" name="ANIM_03_C">
            <a:extLst>
              <a:ext uri="{FF2B5EF4-FFF2-40B4-BE49-F238E27FC236}">
                <a16:creationId xmlns:a16="http://schemas.microsoft.com/office/drawing/2014/main" id="{55DB0332-20F4-4429-AA61-39EEF4B0F476}"/>
              </a:ext>
            </a:extLst>
          </p:cNvPr>
          <p:cNvSpPr>
            <a:spLocks noGrp="1"/>
          </p:cNvSpPr>
          <p:nvPr/>
        </p:nvSpPr>
        <p:spPr>
          <a:xfrm>
            <a:off x="3638550" y="3524250"/>
            <a:ext cx="44767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모든 단계가 분명하다</a:t>
            </a:r>
          </a:p>
        </p:txBody>
      </p:sp>
      <p:sp>
        <p:nvSpPr>
          <p:cNvPr id="17" name="ANIM_03_D">
            <a:extLst>
              <a:ext uri="{FF2B5EF4-FFF2-40B4-BE49-F238E27FC236}">
                <a16:creationId xmlns:a16="http://schemas.microsoft.com/office/drawing/2014/main" id="{9AFEEA5C-F9AB-41B3-B188-DEF939F9C58C}"/>
              </a:ext>
            </a:extLst>
          </p:cNvPr>
          <p:cNvSpPr>
            <a:spLocks noGrp="1"/>
          </p:cNvSpPr>
          <p:nvPr/>
        </p:nvSpPr>
        <p:spPr>
          <a:xfrm>
            <a:off x="8572500" y="3619500"/>
            <a:ext cx="2667000" cy="495300"/>
          </a:xfrm>
          <a:prstGeom prst="roundRect">
            <a:avLst>
              <a:gd name="adj" fmla="val 26923"/>
            </a:avLst>
          </a:prstGeom>
          <a:solidFill>
            <a:srgbClr val="F4F7FB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모호한 말 없음</a:t>
            </a:r>
          </a:p>
        </p:txBody>
      </p:sp>
      <p:sp>
        <p:nvSpPr>
          <p:cNvPr id="18" name="ANIM_04_A">
            <a:extLst>
              <a:ext uri="{FF2B5EF4-FFF2-40B4-BE49-F238E27FC236}">
                <a16:creationId xmlns:a16="http://schemas.microsoft.com/office/drawing/2014/main" id="{6E9D96B5-B21E-4B9D-B8BE-A78054CA9043}"/>
              </a:ext>
            </a:extLst>
          </p:cNvPr>
          <p:cNvSpPr>
            <a:spLocks noGrp="1"/>
          </p:cNvSpPr>
          <p:nvPr/>
        </p:nvSpPr>
        <p:spPr>
          <a:xfrm>
            <a:off x="619125" y="4495800"/>
            <a:ext cx="523875" cy="523875"/>
          </a:xfrm>
          <a:prstGeom prst="roundRect">
            <a:avLst>
              <a:gd name="adj" fmla="val 50000"/>
            </a:avLst>
          </a:prstGeom>
          <a:solidFill>
            <a:srgbClr val="8B3DFF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ANIM_04_B">
            <a:extLst>
              <a:ext uri="{FF2B5EF4-FFF2-40B4-BE49-F238E27FC236}">
                <a16:creationId xmlns:a16="http://schemas.microsoft.com/office/drawing/2014/main" id="{48DB37CF-75B8-48E7-AF84-8956667B088E}"/>
              </a:ext>
            </a:extLst>
          </p:cNvPr>
          <p:cNvSpPr>
            <a:spLocks noGrp="1"/>
          </p:cNvSpPr>
          <p:nvPr/>
        </p:nvSpPr>
        <p:spPr>
          <a:xfrm>
            <a:off x="1352550" y="4410075"/>
            <a:ext cx="2000250" cy="6858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8B3DFF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8B3DFF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8B3DFF"/>
                </a:solidFill>
                <a:latin typeface="맑은 고딕"/>
                <a:ea typeface="맑은 고딕"/>
                <a:cs typeface="맑은 고딕"/>
              </a:rPr>
              <a:t>유한성</a:t>
            </a:r>
          </a:p>
        </p:txBody>
      </p:sp>
      <p:sp>
        <p:nvSpPr>
          <p:cNvPr id="20" name="ANIM_04_C">
            <a:extLst>
              <a:ext uri="{FF2B5EF4-FFF2-40B4-BE49-F238E27FC236}">
                <a16:creationId xmlns:a16="http://schemas.microsoft.com/office/drawing/2014/main" id="{00BB4C96-DF5B-439D-95E4-34CA97EA89B9}"/>
              </a:ext>
            </a:extLst>
          </p:cNvPr>
          <p:cNvSpPr>
            <a:spLocks noGrp="1"/>
          </p:cNvSpPr>
          <p:nvPr/>
        </p:nvSpPr>
        <p:spPr>
          <a:xfrm>
            <a:off x="3638550" y="4410075"/>
            <a:ext cx="44767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언젠가는 끝난다</a:t>
            </a:r>
          </a:p>
        </p:txBody>
      </p:sp>
      <p:sp>
        <p:nvSpPr>
          <p:cNvPr id="21" name="ANIM_04_D">
            <a:extLst>
              <a:ext uri="{FF2B5EF4-FFF2-40B4-BE49-F238E27FC236}">
                <a16:creationId xmlns:a16="http://schemas.microsoft.com/office/drawing/2014/main" id="{8FA28D48-B8C6-4AAB-8E54-084E5AFA4712}"/>
              </a:ext>
            </a:extLst>
          </p:cNvPr>
          <p:cNvSpPr>
            <a:spLocks noGrp="1"/>
          </p:cNvSpPr>
          <p:nvPr/>
        </p:nvSpPr>
        <p:spPr>
          <a:xfrm>
            <a:off x="8572500" y="4505325"/>
            <a:ext cx="2667000" cy="495300"/>
          </a:xfrm>
          <a:prstGeom prst="roundRect">
            <a:avLst>
              <a:gd name="adj" fmla="val 26923"/>
            </a:avLst>
          </a:prstGeom>
          <a:solidFill>
            <a:srgbClr val="F4F7FB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종료 조건</a:t>
            </a:r>
          </a:p>
        </p:txBody>
      </p:sp>
      <p:sp>
        <p:nvSpPr>
          <p:cNvPr id="22" name="ANIM_05_A">
            <a:extLst>
              <a:ext uri="{FF2B5EF4-FFF2-40B4-BE49-F238E27FC236}">
                <a16:creationId xmlns:a16="http://schemas.microsoft.com/office/drawing/2014/main" id="{848D91E9-1D8E-4718-BB3D-E65F68FB9F84}"/>
              </a:ext>
            </a:extLst>
          </p:cNvPr>
          <p:cNvSpPr>
            <a:spLocks noGrp="1"/>
          </p:cNvSpPr>
          <p:nvPr/>
        </p:nvSpPr>
        <p:spPr>
          <a:xfrm>
            <a:off x="619125" y="5381625"/>
            <a:ext cx="523875" cy="5238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3" name="ANIM_05_B">
            <a:extLst>
              <a:ext uri="{FF2B5EF4-FFF2-40B4-BE49-F238E27FC236}">
                <a16:creationId xmlns:a16="http://schemas.microsoft.com/office/drawing/2014/main" id="{23D96773-07FD-4294-90B6-84B9036EFD7D}"/>
              </a:ext>
            </a:extLst>
          </p:cNvPr>
          <p:cNvSpPr>
            <a:spLocks noGrp="1"/>
          </p:cNvSpPr>
          <p:nvPr/>
        </p:nvSpPr>
        <p:spPr>
          <a:xfrm>
            <a:off x="1352550" y="5295900"/>
            <a:ext cx="2000250" cy="6858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수행 가능성</a:t>
            </a:r>
          </a:p>
        </p:txBody>
      </p:sp>
      <p:sp>
        <p:nvSpPr>
          <p:cNvPr id="24" name="ANIM_05_C">
            <a:extLst>
              <a:ext uri="{FF2B5EF4-FFF2-40B4-BE49-F238E27FC236}">
                <a16:creationId xmlns:a16="http://schemas.microsoft.com/office/drawing/2014/main" id="{F683A21B-62DC-4B16-9196-300F2DB1BA98}"/>
              </a:ext>
            </a:extLst>
          </p:cNvPr>
          <p:cNvSpPr>
            <a:spLocks noGrp="1"/>
          </p:cNvSpPr>
          <p:nvPr/>
        </p:nvSpPr>
        <p:spPr>
          <a:xfrm>
            <a:off x="3638550" y="5295900"/>
            <a:ext cx="44767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실제로 실행할 수 있다</a:t>
            </a:r>
          </a:p>
        </p:txBody>
      </p:sp>
      <p:sp>
        <p:nvSpPr>
          <p:cNvPr id="25" name="ANIM_05_D">
            <a:extLst>
              <a:ext uri="{FF2B5EF4-FFF2-40B4-BE49-F238E27FC236}">
                <a16:creationId xmlns:a16="http://schemas.microsoft.com/office/drawing/2014/main" id="{E6E77A61-8DA5-48CA-BAEF-EBAA6265CAFB}"/>
              </a:ext>
            </a:extLst>
          </p:cNvPr>
          <p:cNvSpPr>
            <a:spLocks noGrp="1"/>
          </p:cNvSpPr>
          <p:nvPr/>
        </p:nvSpPr>
        <p:spPr>
          <a:xfrm>
            <a:off x="8572500" y="5391150"/>
            <a:ext cx="2667000" cy="495300"/>
          </a:xfrm>
          <a:prstGeom prst="roundRect">
            <a:avLst>
              <a:gd name="adj" fmla="val 26923"/>
            </a:avLst>
          </a:prstGeom>
          <a:solidFill>
            <a:srgbClr val="F4F7FB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검증 가능한 행동</a:t>
            </a:r>
          </a:p>
        </p:txBody>
      </p:sp>
    </p:spTree>
    <p:extLst>
      <p:ext uri="{BB962C8B-B14F-4D97-AF65-F5344CB8AC3E}">
        <p14:creationId xmlns:p14="http://schemas.microsoft.com/office/powerpoint/2010/main" val="885923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 animBg="1"/>
      <p:bldP spid="10" grpId="0" animBg="1"/>
      <p:bldP spid="11" grpId="0" animBg="1"/>
      <p:bldP spid="12" grpId="0"/>
      <p:bldP spid="13" grpId="0" animBg="1"/>
      <p:bldP spid="14" grpId="0" animBg="1"/>
      <p:bldP spid="15" grpId="0" animBg="1"/>
      <p:bldP spid="16" grpId="0"/>
      <p:bldP spid="17" grpId="0" animBg="1"/>
      <p:bldP spid="18" grpId="0" animBg="1"/>
      <p:bldP spid="19" grpId="0" animBg="1"/>
      <p:bldP spid="20" grpId="0"/>
      <p:bldP spid="21" grpId="0" animBg="1"/>
      <p:bldP spid="22" grpId="0" animBg="1"/>
      <p:bldP spid="23" grpId="0" animBg="1"/>
      <p:bldP spid="24" grpId="0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D8DDAE60-CDED-4F2F-BA9D-D5210426E9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791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E444E41-1BC3-43D8-868F-036C1544BDC5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1차시  알고리즘 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62628FE-8280-497C-90D1-6C000F2B5F34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모호한 명령과 실행 가능한 명령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1FE1527-5B3F-4F8C-B1DC-C615D2880C96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로봇은 구체적인 행동과 대상을 필요로 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5D79142-7884-4D04-B2F3-052F7F1C6F54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6" name="ANIM_01_A">
            <a:extLst>
              <a:ext uri="{FF2B5EF4-FFF2-40B4-BE49-F238E27FC236}">
                <a16:creationId xmlns:a16="http://schemas.microsoft.com/office/drawing/2014/main" id="{9AB7832D-3588-4CA9-92BC-8DA694C0CA8A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2667000" cy="495300"/>
          </a:xfrm>
          <a:prstGeom prst="roundRect">
            <a:avLst>
              <a:gd name="adj" fmla="val 26923"/>
            </a:avLst>
          </a:prstGeom>
          <a:solidFill>
            <a:srgbClr val="FFF0F0"/>
          </a:solidFill>
          <a:ln w="9525">
            <a:solidFill>
              <a:srgbClr val="F4B9B9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D94343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D94343"/>
                </a:solidFill>
                <a:latin typeface="맑은 고딕"/>
                <a:ea typeface="맑은 고딕"/>
                <a:cs typeface="맑은 고딕"/>
              </a:rPr>
              <a:t>모호한 명령</a:t>
            </a:r>
          </a:p>
        </p:txBody>
      </p:sp>
      <p:sp>
        <p:nvSpPr>
          <p:cNvPr id="7" name="ANIM_01_B">
            <a:extLst>
              <a:ext uri="{FF2B5EF4-FFF2-40B4-BE49-F238E27FC236}">
                <a16:creationId xmlns:a16="http://schemas.microsoft.com/office/drawing/2014/main" id="{4E1CB19A-7DC3-4910-AAC4-0240AB212136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47625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D94343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D94343"/>
                </a:solidFill>
                <a:latin typeface="맑은 고딕"/>
                <a:ea typeface="맑은 고딕"/>
                <a:cs typeface="맑은 고딕"/>
              </a:rPr>
              <a:t>“잼을 맛있게 발라 줘”</a:t>
            </a:r>
          </a:p>
        </p:txBody>
      </p:sp>
      <p:sp>
        <p:nvSpPr>
          <p:cNvPr id="8" name="ANIM_01_C">
            <a:extLst>
              <a:ext uri="{FF2B5EF4-FFF2-40B4-BE49-F238E27FC236}">
                <a16:creationId xmlns:a16="http://schemas.microsoft.com/office/drawing/2014/main" id="{698018C4-996D-46C2-9F41-B8DA7658FC9B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4762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맛있게는 어느 정도일까?</a:t>
            </a:r>
          </a:p>
          <a:p>
            <a:pPr algn="l">
              <a:lnSpc>
                <a:spcPct val="105000"/>
              </a:lnSpc>
              <a:buNone/>
              <a:defRPr sz="1725" b="0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도구와 바를 면은 어디일까?</a:t>
            </a:r>
          </a:p>
        </p:txBody>
      </p:sp>
      <p:sp>
        <p:nvSpPr>
          <p:cNvPr id="9" name="ANIM_02_A">
            <a:extLst>
              <a:ext uri="{FF2B5EF4-FFF2-40B4-BE49-F238E27FC236}">
                <a16:creationId xmlns:a16="http://schemas.microsoft.com/office/drawing/2014/main" id="{F9A1BD95-D457-4F96-9597-DDC11E5B9563}"/>
              </a:ext>
            </a:extLst>
          </p:cNvPr>
          <p:cNvSpPr>
            <a:spLocks noGrp="1"/>
          </p:cNvSpPr>
          <p:nvPr/>
        </p:nvSpPr>
        <p:spPr>
          <a:xfrm>
            <a:off x="6667500" y="1809750"/>
            <a:ext cx="2952750" cy="495300"/>
          </a:xfrm>
          <a:prstGeom prst="roundRect">
            <a:avLst>
              <a:gd name="adj" fmla="val 26923"/>
            </a:avLst>
          </a:prstGeom>
          <a:solidFill>
            <a:srgbClr val="FFF2E3"/>
          </a:solidFill>
          <a:ln w="9525">
            <a:solidFill>
              <a:srgbClr val="F1C58D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실행 가능한 명령</a:t>
            </a:r>
          </a:p>
        </p:txBody>
      </p:sp>
      <p:sp>
        <p:nvSpPr>
          <p:cNvPr id="10" name="ANIM_02_B">
            <a:extLst>
              <a:ext uri="{FF2B5EF4-FFF2-40B4-BE49-F238E27FC236}">
                <a16:creationId xmlns:a16="http://schemas.microsoft.com/office/drawing/2014/main" id="{1E69E651-00A8-41ED-B25C-2DD5FD7B320E}"/>
              </a:ext>
            </a:extLst>
          </p:cNvPr>
          <p:cNvSpPr>
            <a:spLocks noGrp="1"/>
          </p:cNvSpPr>
          <p:nvPr/>
        </p:nvSpPr>
        <p:spPr>
          <a:xfrm>
            <a:off x="6667500" y="2476500"/>
            <a:ext cx="4762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“잼 칼로 딸기잼 한 숟가락을</a:t>
            </a:r>
          </a:p>
          <a:p>
            <a:pPr algn="l">
              <a:lnSpc>
                <a:spcPct val="105000"/>
              </a:lnSpc>
              <a:buNone/>
              <a:defRPr sz="21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식빵의 넓은 면 전체에 바른다”</a:t>
            </a:r>
          </a:p>
        </p:txBody>
      </p:sp>
      <p:sp>
        <p:nvSpPr>
          <p:cNvPr id="11" name="ANIM_02_C">
            <a:extLst>
              <a:ext uri="{FF2B5EF4-FFF2-40B4-BE49-F238E27FC236}">
                <a16:creationId xmlns:a16="http://schemas.microsoft.com/office/drawing/2014/main" id="{66B92BD4-A280-4BD8-81E3-F1C0ED9BC491}"/>
              </a:ext>
            </a:extLst>
          </p:cNvPr>
          <p:cNvSpPr>
            <a:spLocks noGrp="1"/>
          </p:cNvSpPr>
          <p:nvPr/>
        </p:nvSpPr>
        <p:spPr>
          <a:xfrm>
            <a:off x="6667500" y="3762375"/>
            <a:ext cx="476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87F5B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087F5B"/>
                </a:solidFill>
                <a:latin typeface="맑은 고딕"/>
                <a:ea typeface="맑은 고딕"/>
                <a:cs typeface="맑은 고딕"/>
              </a:rPr>
              <a:t>도구 · 양 · 대상 · 위치 · 행동이 분명하다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CEA0269-66DC-4673-B721-01747B5F2960}"/>
              </a:ext>
            </a:extLst>
          </p:cNvPr>
          <p:cNvSpPr>
            <a:spLocks noGrp="1"/>
          </p:cNvSpPr>
          <p:nvPr/>
        </p:nvSpPr>
        <p:spPr>
          <a:xfrm>
            <a:off x="1952625" y="5238750"/>
            <a:ext cx="8286750" cy="685800"/>
          </a:xfrm>
          <a:prstGeom prst="roundRect">
            <a:avLst>
              <a:gd name="adj" fmla="val 19444"/>
            </a:avLst>
          </a:prstGeom>
          <a:solidFill>
            <a:srgbClr val="F4F7FB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질문  두 명령 중 로봇이 더 안정적으로 실행할 수 있는 것은?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932B7D3-8D12-4FA0-BAF2-4097CB3E013A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73638" lnSpcReduction="10000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rPr>
              <a:t>정보 알고리즘 스튜디오</a:t>
            </a:r>
          </a:p>
        </p:txBody>
      </p:sp>
    </p:spTree>
    <p:extLst>
      <p:ext uri="{BB962C8B-B14F-4D97-AF65-F5344CB8AC3E}">
        <p14:creationId xmlns:p14="http://schemas.microsoft.com/office/powerpoint/2010/main" val="2119971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 animBg="1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CB5F1FEA-9B7F-49C5-82F0-84B6D05281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791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FC741B6-E698-435A-846D-EEBD027204B1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1차시  알고리즘 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D8D4737-DE68-4F47-9E06-C4F98FD7B2B8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정보 알고리즘 스튜디오 접속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C88BF9C-D588-4875-83D1-8AEF1079EF68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상단의 알고리즘 설계에서 실습을 선택합니다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E49C332-C89C-46AE-A607-E796A689A170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3"/>
          <a:srcRect t="5000" b="5000"/>
          <a:stretch>
            <a:fillRect/>
          </a:stretch>
        </p:blipFill>
        <p:spPr>
          <a:xfrm>
            <a:off x="523875" y="1666875"/>
            <a:ext cx="7620000" cy="4286250"/>
          </a:xfrm>
          <a:prstGeom prst="roundRect">
            <a:avLst>
              <a:gd name="adj" fmla="val 3111"/>
            </a:avLst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213B8D0-DDD8-4CD5-A5F5-D9AF6D88BB0D}"/>
              </a:ext>
            </a:extLst>
          </p:cNvPr>
          <p:cNvSpPr>
            <a:spLocks noGrp="1"/>
          </p:cNvSpPr>
          <p:nvPr/>
        </p:nvSpPr>
        <p:spPr>
          <a:xfrm>
            <a:off x="8572500" y="19050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E87918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 fontScale="96572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425455-929A-426F-A70E-6C03929EB7C7}"/>
              </a:ext>
            </a:extLst>
          </p:cNvPr>
          <p:cNvSpPr>
            <a:spLocks noGrp="1"/>
          </p:cNvSpPr>
          <p:nvPr/>
        </p:nvSpPr>
        <p:spPr>
          <a:xfrm>
            <a:off x="9239250" y="1866900"/>
            <a:ext cx="2286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알고리즘 설계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19D8C5B-11EE-460B-B999-FE9044CD90E3}"/>
              </a:ext>
            </a:extLst>
          </p:cNvPr>
          <p:cNvSpPr>
            <a:spLocks noGrp="1"/>
          </p:cNvSpPr>
          <p:nvPr/>
        </p:nvSpPr>
        <p:spPr>
          <a:xfrm>
            <a:off x="8572500" y="28575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E87918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 fontScale="96572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5DB9427-1ADC-4E39-A56A-6F8FA979DB01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2286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B74F54D-1843-4E47-A87B-7BAC05925880}"/>
              </a:ext>
            </a:extLst>
          </p:cNvPr>
          <p:cNvSpPr>
            <a:spLocks noGrp="1"/>
          </p:cNvSpPr>
          <p:nvPr/>
        </p:nvSpPr>
        <p:spPr>
          <a:xfrm>
            <a:off x="8572500" y="4048125"/>
            <a:ext cx="2857500" cy="628650"/>
          </a:xfrm>
          <a:prstGeom prst="roundRect">
            <a:avLst>
              <a:gd name="adj" fmla="val 21212"/>
            </a:avLst>
          </a:prstGeom>
          <a:solidFill>
            <a:srgbClr val="EAF1FF"/>
          </a:solidFill>
          <a:ln w="9525">
            <a:solidFill>
              <a:srgbClr val="B8CCFF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2563EB"/>
                </a:solidFill>
                <a:latin typeface="맑은 고딕"/>
                <a:ea typeface="맑은 고딕"/>
                <a:cs typeface="맑은 고딕"/>
                <a:hlinkClick r:id="rId4"/>
              </a:rPr>
              <a:t>수업 사이트 열기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50A0C8-1EC7-4976-9809-BB68B4DAB64F}"/>
              </a:ext>
            </a:extLst>
          </p:cNvPr>
          <p:cNvSpPr>
            <a:spLocks noGrp="1"/>
          </p:cNvSpPr>
          <p:nvPr/>
        </p:nvSpPr>
        <p:spPr>
          <a:xfrm>
            <a:off x="8572500" y="469582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algorithm-studio-ten.vercel.app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91C3E73-18D6-4558-A6A1-F6F19FF9DE7E}"/>
              </a:ext>
            </a:extLst>
          </p:cNvPr>
          <p:cNvSpPr>
            <a:spLocks noGrp="1"/>
          </p:cNvSpPr>
          <p:nvPr/>
        </p:nvSpPr>
        <p:spPr>
          <a:xfrm>
            <a:off x="8429625" y="5095875"/>
            <a:ext cx="3095625" cy="809625"/>
          </a:xfrm>
          <a:prstGeom prst="roundRect">
            <a:avLst>
              <a:gd name="adj" fmla="val 16471"/>
            </a:avLst>
          </a:prstGeom>
          <a:solidFill>
            <a:srgbClr val="F4F7FB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접속이 늦어도 새로고침을 반복하지 말고 잠시 기다립니다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FD46061-22C2-4BD2-84D8-96E2832983E3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73638" lnSpcReduction="10000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rPr>
              <a:t>정보 알고리즘 스튜디오</a:t>
            </a:r>
          </a:p>
        </p:txBody>
      </p:sp>
    </p:spTree>
    <p:extLst>
      <p:ext uri="{BB962C8B-B14F-4D97-AF65-F5344CB8AC3E}">
        <p14:creationId xmlns:p14="http://schemas.microsoft.com/office/powerpoint/2010/main" val="1737052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9FC89E26-CC89-46E6-BF6E-BE3249A5B7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791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54B4883-55C1-4146-9603-B6B33273DD45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1차시  알고리즘 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5DBC56B-2BC8-478A-BAF1-2509ECA16BEA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샌드위치 로봇 실습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7A41123-36DB-4206-A8EF-5CACB10125ED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명령을 입력하고 로봇이 실제로 어떻게 해석하는지 확인합니다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363B26-B830-42A6-9E53-AB9C97DEFC42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rcRect t="6145" b="6145"/>
          <a:stretch>
            <a:fillRect/>
          </a:stretch>
        </p:blipFill>
        <p:spPr>
          <a:xfrm>
            <a:off x="523875" y="1666875"/>
            <a:ext cx="7905750" cy="4333875"/>
          </a:xfrm>
          <a:prstGeom prst="roundRect">
            <a:avLst>
              <a:gd name="adj" fmla="val 3077"/>
            </a:avLst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E4F5C43-141C-44C6-95FF-A553575363FC}"/>
              </a:ext>
            </a:extLst>
          </p:cNvPr>
          <p:cNvSpPr>
            <a:spLocks noGrp="1"/>
          </p:cNvSpPr>
          <p:nvPr/>
        </p:nvSpPr>
        <p:spPr>
          <a:xfrm>
            <a:off x="8858250" y="176212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E87918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93EB46A-80EA-428E-86F5-B132ACDE989B}"/>
              </a:ext>
            </a:extLst>
          </p:cNvPr>
          <p:cNvSpPr>
            <a:spLocks noGrp="1"/>
          </p:cNvSpPr>
          <p:nvPr/>
        </p:nvSpPr>
        <p:spPr>
          <a:xfrm>
            <a:off x="9525000" y="1704975"/>
            <a:ext cx="2095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명령 입력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B001A0C-7D3E-4842-90B9-E8C7CD292B1C}"/>
              </a:ext>
            </a:extLst>
          </p:cNvPr>
          <p:cNvSpPr>
            <a:spLocks noGrp="1"/>
          </p:cNvSpPr>
          <p:nvPr/>
        </p:nvSpPr>
        <p:spPr>
          <a:xfrm>
            <a:off x="8858250" y="271462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E87918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81FCA4-34FC-4572-8854-FA3B7D7BE3B0}"/>
              </a:ext>
            </a:extLst>
          </p:cNvPr>
          <p:cNvSpPr>
            <a:spLocks noGrp="1"/>
          </p:cNvSpPr>
          <p:nvPr/>
        </p:nvSpPr>
        <p:spPr>
          <a:xfrm>
            <a:off x="9525000" y="2657475"/>
            <a:ext cx="2095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00DBD99-D86E-46C5-9C9B-BC3F018A63BA}"/>
              </a:ext>
            </a:extLst>
          </p:cNvPr>
          <p:cNvSpPr>
            <a:spLocks noGrp="1"/>
          </p:cNvSpPr>
          <p:nvPr/>
        </p:nvSpPr>
        <p:spPr>
          <a:xfrm>
            <a:off x="8858250" y="366712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E87918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CFF29D7-E4F6-4B44-B4B7-3891A40A14D7}"/>
              </a:ext>
            </a:extLst>
          </p:cNvPr>
          <p:cNvSpPr>
            <a:spLocks noGrp="1"/>
          </p:cNvSpPr>
          <p:nvPr/>
        </p:nvSpPr>
        <p:spPr>
          <a:xfrm>
            <a:off x="9525000" y="3609975"/>
            <a:ext cx="2095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결과 확인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9A1DBA6-133A-4E94-A829-698C771464D5}"/>
              </a:ext>
            </a:extLst>
          </p:cNvPr>
          <p:cNvSpPr>
            <a:spLocks noGrp="1"/>
          </p:cNvSpPr>
          <p:nvPr/>
        </p:nvSpPr>
        <p:spPr>
          <a:xfrm>
            <a:off x="8858250" y="461962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E87918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0CB2082-DBA8-4E07-B018-E49408130013}"/>
              </a:ext>
            </a:extLst>
          </p:cNvPr>
          <p:cNvSpPr>
            <a:spLocks noGrp="1"/>
          </p:cNvSpPr>
          <p:nvPr/>
        </p:nvSpPr>
        <p:spPr>
          <a:xfrm>
            <a:off x="9525000" y="4562475"/>
            <a:ext cx="2095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명령 수정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2ADEBC6-A83B-4FFE-BA9A-A832B76F43B4}"/>
              </a:ext>
            </a:extLst>
          </p:cNvPr>
          <p:cNvSpPr>
            <a:spLocks noGrp="1"/>
          </p:cNvSpPr>
          <p:nvPr/>
        </p:nvSpPr>
        <p:spPr>
          <a:xfrm>
            <a:off x="8810625" y="5572125"/>
            <a:ext cx="2857500" cy="523875"/>
          </a:xfrm>
          <a:prstGeom prst="roundRect">
            <a:avLst>
              <a:gd name="adj" fmla="val 25455"/>
            </a:avLst>
          </a:prstGeom>
          <a:solidFill>
            <a:srgbClr val="FFF2E3"/>
          </a:solidFill>
          <a:ln w="9525">
            <a:solidFill>
              <a:srgbClr val="F1C58D"/>
            </a:solidFill>
            <a:prstDash val="solid"/>
          </a:ln>
        </p:spPr>
        <p:txBody>
          <a:bodyPr wrap="square" lIns="76200" tIns="47625" rIns="76200" bIns="47625" anchor="ctr">
            <a:normAutofit fontScale="98767" lnSpcReduction="10000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목표  한 번의 실행보다 수정 후 다시 실행하기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17DD920-F6F8-4A14-9AD4-41ED2847CFB8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73638" lnSpcReduction="10000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rPr>
              <a:t>정보 알고리즘 스튜디오</a:t>
            </a:r>
          </a:p>
        </p:txBody>
      </p:sp>
    </p:spTree>
    <p:extLst>
      <p:ext uri="{BB962C8B-B14F-4D97-AF65-F5344CB8AC3E}">
        <p14:creationId xmlns:p14="http://schemas.microsoft.com/office/powerpoint/2010/main" val="1735273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637E82-3525-442F-BA49-70C44566DA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791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00B0607-0BF9-4C55-A78B-E9B5620D83E2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1차시  알고리즘 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8590FE1-A8C1-46A5-BFF9-1B7074F285BA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개인 실습 15분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7DC38C8-C503-4147-A1E7-3A256DFD9325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샌드위치 로봇이 그대로 실행할 수 있는 명령을 만듭니다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578FFC2-3549-4C2E-A651-36EBA90B2F82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8BE511F-23D4-4529-842C-E4EA09C6CEBF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7918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44C589-ED1C-4E88-99C2-FF0A2DA04F50}"/>
              </a:ext>
            </a:extLst>
          </p:cNvPr>
          <p:cNvSpPr>
            <a:spLocks noGrp="1"/>
          </p:cNvSpPr>
          <p:nvPr/>
        </p:nvSpPr>
        <p:spPr>
          <a:xfrm>
            <a:off x="1619250" y="1876425"/>
            <a:ext cx="9334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첫 명령을 입력하고 실행하기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3EE209B-1170-4776-B312-88457572CF57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7918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50CBA2-9C8A-4193-9384-5B0AD078F0CE}"/>
              </a:ext>
            </a:extLst>
          </p:cNvPr>
          <p:cNvSpPr>
            <a:spLocks noGrp="1"/>
          </p:cNvSpPr>
          <p:nvPr/>
        </p:nvSpPr>
        <p:spPr>
          <a:xfrm>
            <a:off x="1619250" y="3019425"/>
            <a:ext cx="9334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예상과 다른 행동 한 가지 찾기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3019E7C-A7C6-4668-A88E-68F6BBFB4760}"/>
              </a:ext>
            </a:extLst>
          </p:cNvPr>
          <p:cNvSpPr>
            <a:spLocks noGrp="1"/>
          </p:cNvSpPr>
          <p:nvPr/>
        </p:nvSpPr>
        <p:spPr>
          <a:xfrm>
            <a:off x="762000" y="423862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7918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4CF5D99-C270-4F09-86BE-9BC87CDFCE94}"/>
              </a:ext>
            </a:extLst>
          </p:cNvPr>
          <p:cNvSpPr>
            <a:spLocks noGrp="1"/>
          </p:cNvSpPr>
          <p:nvPr/>
        </p:nvSpPr>
        <p:spPr>
          <a:xfrm>
            <a:off x="1619250" y="4162425"/>
            <a:ext cx="9334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도구·양·위치·순서를 보완하여 다시 실행하기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4EB62C5-BE79-4139-8290-F41FDBC1466D}"/>
              </a:ext>
            </a:extLst>
          </p:cNvPr>
          <p:cNvSpPr>
            <a:spLocks noGrp="1"/>
          </p:cNvSpPr>
          <p:nvPr/>
        </p:nvSpPr>
        <p:spPr>
          <a:xfrm>
            <a:off x="1571625" y="5476875"/>
            <a:ext cx="9048750" cy="609600"/>
          </a:xfrm>
          <a:prstGeom prst="roundRect">
            <a:avLst>
              <a:gd name="adj" fmla="val 21875"/>
            </a:avLst>
          </a:prstGeom>
          <a:solidFill>
            <a:srgbClr val="FFF2E3"/>
          </a:solidFill>
          <a:ln w="9525">
            <a:solidFill>
              <a:srgbClr val="F1C58D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완벽한 첫 시도보다 한 번 고쳐서 더 나아진 명령이 목표입니다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611BA3-AB9D-4D47-AA83-8F6E05DCC88A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73638" lnSpcReduction="20000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rPr>
              <a:t>정보 알고리즘 스튜디오</a:t>
            </a:r>
          </a:p>
        </p:txBody>
      </p:sp>
    </p:spTree>
    <p:extLst>
      <p:ext uri="{BB962C8B-B14F-4D97-AF65-F5344CB8AC3E}">
        <p14:creationId xmlns:p14="http://schemas.microsoft.com/office/powerpoint/2010/main" val="1307619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5F95EF9C-4CF3-441A-B0A2-9A68C5CC3E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8791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01B396A-3EA0-469C-ACD2-B87097E0AA5C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1차시  알고리즘 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4765AC2-3842-42B7-ABC9-8D478DC22BC7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1차시 정리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46363EA-2A78-465A-BCC5-A09333B82FA4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친구의 명령과 비교하며 명확한 표현을 찾습니다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9EE2824-C2CC-4DF5-A251-027E2F4DAF44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7527CD3-0EC7-43C3-AB7D-FAEE24AAE75B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2857500" cy="523875"/>
          </a:xfrm>
          <a:prstGeom prst="roundRect">
            <a:avLst>
              <a:gd name="adj" fmla="val 25455"/>
            </a:avLst>
          </a:prstGeom>
          <a:solidFill>
            <a:srgbClr val="E87918"/>
          </a:solidFill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서로 비교할 것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55906E-656F-40D7-96BF-0F82F10FEDDD}"/>
              </a:ext>
            </a:extLst>
          </p:cNvPr>
          <p:cNvSpPr>
            <a:spLocks noGrp="1"/>
          </p:cNvSpPr>
          <p:nvPr/>
        </p:nvSpPr>
        <p:spPr>
          <a:xfrm>
            <a:off x="857250" y="2667000"/>
            <a:ext cx="9525000" cy="16668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25000"/>
              </a:lnSpc>
              <a:buNone/>
              <a:defRPr sz="20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어떤 단어를 더 구체적으로 바꾸었나?</a:t>
            </a:r>
          </a:p>
          <a:p>
            <a:pPr algn="l">
              <a:lnSpc>
                <a:spcPct val="125000"/>
              </a:lnSpc>
              <a:buNone/>
              <a:defRPr sz="20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어떤 순서를 새로 나누었나?</a:t>
            </a:r>
          </a:p>
          <a:p>
            <a:pPr algn="l">
              <a:lnSpc>
                <a:spcPct val="125000"/>
              </a:lnSpc>
              <a:buNone/>
              <a:defRPr sz="20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로봇의 행동은 어떻게 달라졌나?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73FB56D-C5B1-499C-91BB-200179EF4721}"/>
              </a:ext>
            </a:extLst>
          </p:cNvPr>
          <p:cNvSpPr>
            <a:spLocks noGrp="1"/>
          </p:cNvSpPr>
          <p:nvPr/>
        </p:nvSpPr>
        <p:spPr>
          <a:xfrm>
            <a:off x="1238250" y="4953000"/>
            <a:ext cx="9715500" cy="857250"/>
          </a:xfrm>
          <a:prstGeom prst="roundRect">
            <a:avLst>
              <a:gd name="adj" fmla="val 15556"/>
            </a:avLst>
          </a:prstGeom>
          <a:solidFill>
            <a:srgbClr val="FFF2E3"/>
          </a:solidFill>
          <a:ln w="9525">
            <a:solidFill>
              <a:srgbClr val="F1C58D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 dirty="0" err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알고리즘은</a:t>
            </a:r>
            <a:r>
              <a:rPr sz="1950" b="1" dirty="0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50" b="1" dirty="0" err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다른</a:t>
            </a:r>
            <a:r>
              <a:rPr sz="1950" b="1" dirty="0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50" b="1" dirty="0" err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사람</a:t>
            </a:r>
            <a:r>
              <a:rPr lang="en-US" sz="1950" b="1" dirty="0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ko-KR" altLang="en-US" sz="1950" b="1" dirty="0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컴퓨터</a:t>
            </a:r>
            <a:r>
              <a:rPr lang="en-US" altLang="ko-KR" sz="1950" b="1" dirty="0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sz="1950" b="1" dirty="0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이 </a:t>
            </a:r>
            <a:r>
              <a:rPr sz="1950" b="1" dirty="0" err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그대로</a:t>
            </a:r>
            <a:r>
              <a:rPr sz="1950" b="1" dirty="0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50" b="1" dirty="0" err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따라</a:t>
            </a:r>
            <a:r>
              <a:rPr sz="1950" b="1" dirty="0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 할 수 </a:t>
            </a:r>
            <a:r>
              <a:rPr sz="1950" b="1" dirty="0" err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있는</a:t>
            </a:r>
            <a:r>
              <a:rPr sz="1950" b="1" dirty="0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50" b="1" dirty="0" err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논리적인</a:t>
            </a:r>
            <a:r>
              <a:rPr sz="1950" b="1" dirty="0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50" b="1" dirty="0" err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절차입니다</a:t>
            </a:r>
            <a:endParaRPr sz="1950" b="1" dirty="0">
              <a:solidFill>
                <a:srgbClr val="E8791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33ABDBA-D074-4371-8E04-5796EB5BB8D6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73638" lnSpcReduction="20000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rPr>
              <a:t>정보 알고리즘 스튜디오</a:t>
            </a:r>
          </a:p>
        </p:txBody>
      </p:sp>
    </p:spTree>
    <p:extLst>
      <p:ext uri="{BB962C8B-B14F-4D97-AF65-F5344CB8AC3E}">
        <p14:creationId xmlns:p14="http://schemas.microsoft.com/office/powerpoint/2010/main" val="426647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776FB443-A84E-47CE-A3A3-B35E7A0EBD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3F282F1-F00B-4805-B3A5-B45F2A8274D4}"/>
              </a:ext>
            </a:extLst>
          </p:cNvPr>
          <p:cNvSpPr>
            <a:spLocks noGrp="1"/>
          </p:cNvSpPr>
          <p:nvPr/>
        </p:nvSpPr>
        <p:spPr>
          <a:xfrm>
            <a:off x="876300" y="1190625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2차시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620144-C1D9-4684-BDCF-51109ABCE910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6667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9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39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순서도 연구소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040EE75-AF05-4557-AB03-140464AB5A7F}"/>
              </a:ext>
            </a:extLst>
          </p:cNvPr>
          <p:cNvSpPr>
            <a:spLocks noGrp="1"/>
          </p:cNvSpPr>
          <p:nvPr/>
        </p:nvSpPr>
        <p:spPr>
          <a:xfrm>
            <a:off x="876300" y="2905125"/>
            <a:ext cx="8286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75" b="0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0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글로 쓴 절차를 기호와 연결선으로 표현합니다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AC71E01-F636-4A69-B046-5A193F13D6FE}"/>
              </a:ext>
            </a:extLst>
          </p:cNvPr>
          <p:cNvSpPr>
            <a:spLocks noGrp="1"/>
          </p:cNvSpPr>
          <p:nvPr/>
        </p:nvSpPr>
        <p:spPr>
          <a:xfrm>
            <a:off x="876300" y="4286250"/>
            <a:ext cx="2476500" cy="590550"/>
          </a:xfrm>
          <a:prstGeom prst="roundRect">
            <a:avLst>
              <a:gd name="adj" fmla="val 22581"/>
            </a:avLst>
          </a:prstGeom>
          <a:solidFill>
            <a:srgbClr val="EAF1FF"/>
          </a:solidFill>
          <a:ln w="9525">
            <a:solidFill>
              <a:srgbClr val="B8CCFF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개념 20분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315FC7B-3FF1-42BB-9465-001AB577FD7F}"/>
              </a:ext>
            </a:extLst>
          </p:cNvPr>
          <p:cNvSpPr>
            <a:spLocks noGrp="1"/>
          </p:cNvSpPr>
          <p:nvPr/>
        </p:nvSpPr>
        <p:spPr>
          <a:xfrm>
            <a:off x="3571875" y="4286250"/>
            <a:ext cx="2476500" cy="590550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9525">
            <a:solidFill>
              <a:srgbClr val="B8CCFF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실습 25분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25CC3F-F43F-47C1-990A-C0FC44563346}"/>
              </a:ext>
            </a:extLst>
          </p:cNvPr>
          <p:cNvSpPr>
            <a:spLocks noGrp="1"/>
          </p:cNvSpPr>
          <p:nvPr/>
        </p:nvSpPr>
        <p:spPr>
          <a:xfrm>
            <a:off x="876300" y="5476875"/>
            <a:ext cx="647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순차  ·  선택  ·  반복</a:t>
            </a:r>
          </a:p>
        </p:txBody>
      </p:sp>
    </p:spTree>
    <p:extLst>
      <p:ext uri="{BB962C8B-B14F-4D97-AF65-F5344CB8AC3E}">
        <p14:creationId xmlns:p14="http://schemas.microsoft.com/office/powerpoint/2010/main" val="1738748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92628C82-997B-434B-80F1-5478F3C558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097942E-B7C6-4371-BE80-27FE95CBFBFC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2차시  순서도 연구소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8F8E07F-5B3C-418D-A8F3-99A38AE40D73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순서도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0A5ECB-C5A1-41D5-91E4-14E8A3D0AD59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알고리즘의 흐름을 정해진 기호와 연결선으로 표현한 그림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7D760F4-7075-4B6B-8753-9421104C133B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C5E45B4-3F73-4818-BD2A-5A32D70CDA04}"/>
              </a:ext>
            </a:extLst>
          </p:cNvPr>
          <p:cNvSpPr>
            <a:spLocks noGrp="1"/>
          </p:cNvSpPr>
          <p:nvPr/>
        </p:nvSpPr>
        <p:spPr>
          <a:xfrm>
            <a:off x="904875" y="2143125"/>
            <a:ext cx="1714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긴 글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8310EB3-8221-4FBD-BB6D-09D368189F06}"/>
              </a:ext>
            </a:extLst>
          </p:cNvPr>
          <p:cNvSpPr>
            <a:spLocks noGrp="1"/>
          </p:cNvSpPr>
          <p:nvPr/>
        </p:nvSpPr>
        <p:spPr>
          <a:xfrm>
            <a:off x="666750" y="2714625"/>
            <a:ext cx="4476750" cy="1619250"/>
          </a:xfrm>
          <a:prstGeom prst="roundRect">
            <a:avLst>
              <a:gd name="adj" fmla="val 8235"/>
            </a:avLst>
          </a:prstGeom>
          <a:solidFill>
            <a:srgbClr val="F4F7FB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0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로그인 화면에서 아이디와 비밀번호를 입력하고, 비밀번호가 맞으면 접속하고 틀리면 다시 입력한다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3936FD-7A53-4F9C-8227-F47D3F269AF1}"/>
              </a:ext>
            </a:extLst>
          </p:cNvPr>
          <p:cNvSpPr>
            <a:spLocks noGrp="1"/>
          </p:cNvSpPr>
          <p:nvPr/>
        </p:nvSpPr>
        <p:spPr>
          <a:xfrm>
            <a:off x="5286375" y="3143250"/>
            <a:ext cx="1619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같은 절차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017526A-EC92-4AF8-A649-0B99F0469188}"/>
              </a:ext>
            </a:extLst>
          </p:cNvPr>
          <p:cNvSpPr>
            <a:spLocks noGrp="1"/>
          </p:cNvSpPr>
          <p:nvPr/>
        </p:nvSpPr>
        <p:spPr>
          <a:xfrm>
            <a:off x="5619750" y="3571875"/>
            <a:ext cx="952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92534"/>
          </a:bodyPr>
          <a:lstStyle/>
          <a:p>
            <a:pPr algn="ctr">
              <a:lnSpc>
                <a:spcPct val="105000"/>
              </a:lnSpc>
              <a:buNone/>
              <a:defRPr sz="315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315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0D4B567-13A7-4C65-9ECB-1C98F24A2080}"/>
              </a:ext>
            </a:extLst>
          </p:cNvPr>
          <p:cNvSpPr>
            <a:spLocks noGrp="1"/>
          </p:cNvSpPr>
          <p:nvPr/>
        </p:nvSpPr>
        <p:spPr>
          <a:xfrm>
            <a:off x="7239000" y="2143125"/>
            <a:ext cx="2857500" cy="666750"/>
          </a:xfrm>
          <a:prstGeom prst="roundRect">
            <a:avLst>
              <a:gd name="adj" fmla="val 11429"/>
            </a:avLst>
          </a:prstGeom>
          <a:solidFill>
            <a:srgbClr val="E9FFF7"/>
          </a:solidFill>
          <a:ln w="9525">
            <a:solidFill>
              <a:srgbClr val="13A874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3A874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3A874"/>
                </a:solidFill>
                <a:latin typeface="맑은 고딕"/>
                <a:ea typeface="맑은 고딕"/>
                <a:cs typeface="맑은 고딕"/>
              </a:rPr>
              <a:t>비밀번호 입력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914AA0-E2A5-43D6-AA3B-5FB9BE603655}"/>
              </a:ext>
            </a:extLst>
          </p:cNvPr>
          <p:cNvSpPr>
            <a:spLocks noGrp="1"/>
          </p:cNvSpPr>
          <p:nvPr/>
        </p:nvSpPr>
        <p:spPr>
          <a:xfrm>
            <a:off x="7239000" y="3238500"/>
            <a:ext cx="2857500" cy="809625"/>
          </a:xfrm>
          <a:prstGeom prst="rect">
            <a:avLst/>
          </a:prstGeom>
          <a:solidFill>
            <a:srgbClr val="FFF0D8"/>
          </a:solidFill>
          <a:ln w="9525">
            <a:solidFill>
              <a:srgbClr val="EE8A00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EE8A00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EE8A00"/>
                </a:solidFill>
                <a:latin typeface="맑은 고딕"/>
                <a:ea typeface="맑은 고딕"/>
                <a:cs typeface="맑은 고딕"/>
              </a:rPr>
              <a:t>비밀번호가 맞는가?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EA48D81-EB2C-4611-BF82-02C96454E67C}"/>
              </a:ext>
            </a:extLst>
          </p:cNvPr>
          <p:cNvSpPr>
            <a:spLocks noGrp="1"/>
          </p:cNvSpPr>
          <p:nvPr/>
        </p:nvSpPr>
        <p:spPr>
          <a:xfrm>
            <a:off x="7239000" y="4667250"/>
            <a:ext cx="2857500" cy="666750"/>
          </a:xfrm>
          <a:prstGeom prst="roundRect">
            <a:avLst>
              <a:gd name="adj" fmla="val 11429"/>
            </a:avLst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로그인</a:t>
            </a:r>
          </a:p>
        </p:txBody>
      </p:sp>
      <p:cxnSp>
        <p:nvCxnSpPr>
          <p:cNvPr id="28" name="직선 화살표 연결선 27"/>
          <p:cNvCxnSpPr>
            <a:stCxn id="10" idx="2"/>
            <a:endCxn id="11" idx="0"/>
          </p:cNvCxnSpPr>
          <p:nvPr/>
        </p:nvCxnSpPr>
        <p:spPr>
          <a:xfrm>
            <a:off x="8667750" y="2809875"/>
            <a:ext cx="0" cy="428625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29" name="직선 화살표 연결선 28"/>
          <p:cNvCxnSpPr>
            <a:stCxn id="11" idx="2"/>
            <a:endCxn id="12" idx="0"/>
          </p:cNvCxnSpPr>
          <p:nvPr/>
        </p:nvCxnSpPr>
        <p:spPr>
          <a:xfrm>
            <a:off x="8667750" y="4048125"/>
            <a:ext cx="0" cy="619125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  <a:tailEnd type="triangle" w="sm" len="sm"/>
          </a:ln>
        </p:spPr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C86E521-10A6-4DD4-81FF-847560DB2E7C}"/>
              </a:ext>
            </a:extLst>
          </p:cNvPr>
          <p:cNvSpPr>
            <a:spLocks noGrp="1"/>
          </p:cNvSpPr>
          <p:nvPr/>
        </p:nvSpPr>
        <p:spPr>
          <a:xfrm>
            <a:off x="1571625" y="5857875"/>
            <a:ext cx="9048750" cy="523875"/>
          </a:xfrm>
          <a:prstGeom prst="roundRect">
            <a:avLst>
              <a:gd name="adj" fmla="val 25455"/>
            </a:avLst>
          </a:prstGeom>
          <a:solidFill>
            <a:srgbClr val="EAF1FF"/>
          </a:solidFill>
          <a:ln w="9525">
            <a:solidFill>
              <a:srgbClr val="B8CCFF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순서도는 단계·조건·되돌아가는 흐름을 한눈에 보여 줍니다</a:t>
            </a:r>
          </a:p>
        </p:txBody>
      </p:sp>
    </p:spTree>
    <p:extLst>
      <p:ext uri="{BB962C8B-B14F-4D97-AF65-F5344CB8AC3E}">
        <p14:creationId xmlns:p14="http://schemas.microsoft.com/office/powerpoint/2010/main" val="2142726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C60BF489-A102-4843-BD83-BA49E777C3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8B0C02-DD35-4191-ACA3-9512C9EF31E6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2차시  순서도 연구소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0676A81-B30C-4A5F-A6EB-A6389B84A034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네 가지 핵심 기호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F2A1E2-9510-40FA-AEDD-54FF00E6817F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모양·색·역할을 함께 기억합니다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65D049D-9AEA-4B1C-8FA6-4962AE1A9194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ANIM_01_A">
            <a:extLst>
              <a:ext uri="{FF2B5EF4-FFF2-40B4-BE49-F238E27FC236}">
                <a16:creationId xmlns:a16="http://schemas.microsoft.com/office/drawing/2014/main" id="{827D8561-E7BC-419B-85CA-9EC9A273505F}"/>
              </a:ext>
            </a:extLst>
          </p:cNvPr>
          <p:cNvSpPr>
            <a:spLocks noGrp="1"/>
          </p:cNvSpPr>
          <p:nvPr/>
        </p:nvSpPr>
        <p:spPr>
          <a:xfrm>
            <a:off x="923925" y="1952625"/>
            <a:ext cx="2047875" cy="1000125"/>
          </a:xfrm>
          <a:prstGeom prst="ellipse">
            <a:avLst/>
          </a:prstGeom>
          <a:solidFill>
            <a:srgbClr val="F5EAFF"/>
          </a:solidFill>
          <a:ln w="28575">
            <a:solidFill>
              <a:srgbClr val="8B3DFF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defRPr sz="1950" b="1">
                <a:solidFill>
                  <a:srgbClr val="8B3DFF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8B3DFF"/>
                </a:solidFill>
                <a:latin typeface="맑은 고딕"/>
                <a:ea typeface="맑은 고딕"/>
                <a:cs typeface="맑은 고딕"/>
              </a:rPr>
              <a:t>단말</a:t>
            </a:r>
          </a:p>
        </p:txBody>
      </p:sp>
      <p:sp>
        <p:nvSpPr>
          <p:cNvPr id="7" name="ANIM_01_B">
            <a:extLst>
              <a:ext uri="{FF2B5EF4-FFF2-40B4-BE49-F238E27FC236}">
                <a16:creationId xmlns:a16="http://schemas.microsoft.com/office/drawing/2014/main" id="{475503A9-D6A2-4F64-9F48-F42397FD4512}"/>
              </a:ext>
            </a:extLst>
          </p:cNvPr>
          <p:cNvSpPr>
            <a:spLocks noGrp="1"/>
          </p:cNvSpPr>
          <p:nvPr/>
        </p:nvSpPr>
        <p:spPr>
          <a:xfrm>
            <a:off x="523875" y="3286125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시작과 끝</a:t>
            </a:r>
          </a:p>
        </p:txBody>
      </p:sp>
      <p:sp>
        <p:nvSpPr>
          <p:cNvPr id="8" name="ANIM_01_C">
            <a:extLst>
              <a:ext uri="{FF2B5EF4-FFF2-40B4-BE49-F238E27FC236}">
                <a16:creationId xmlns:a16="http://schemas.microsoft.com/office/drawing/2014/main" id="{B8007709-5039-4B32-BFE8-1C79A41D380A}"/>
              </a:ext>
            </a:extLst>
          </p:cNvPr>
          <p:cNvSpPr>
            <a:spLocks noGrp="1"/>
          </p:cNvSpPr>
          <p:nvPr/>
        </p:nvSpPr>
        <p:spPr>
          <a:xfrm>
            <a:off x="523875" y="39052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흐름의 경계</a:t>
            </a:r>
          </a:p>
        </p:txBody>
      </p:sp>
      <p:sp>
        <p:nvSpPr>
          <p:cNvPr id="9" name="ANIM_02_A">
            <a:extLst>
              <a:ext uri="{FF2B5EF4-FFF2-40B4-BE49-F238E27FC236}">
                <a16:creationId xmlns:a16="http://schemas.microsoft.com/office/drawing/2014/main" id="{F5108400-78B1-4750-8E6D-B2E7A40094B2}"/>
              </a:ext>
            </a:extLst>
          </p:cNvPr>
          <p:cNvSpPr>
            <a:spLocks noGrp="1"/>
          </p:cNvSpPr>
          <p:nvPr/>
        </p:nvSpPr>
        <p:spPr>
          <a:xfrm>
            <a:off x="3829050" y="1952625"/>
            <a:ext cx="2047875" cy="1000125"/>
          </a:xfrm>
          <a:prstGeom prst="parallelogram">
            <a:avLst/>
          </a:prstGeom>
          <a:solidFill>
            <a:srgbClr val="E8FBF4"/>
          </a:solidFill>
          <a:ln w="28575">
            <a:solidFill>
              <a:srgbClr val="13A874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defRPr sz="1950" b="1">
                <a:solidFill>
                  <a:srgbClr val="13A874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13A874"/>
                </a:solidFill>
                <a:latin typeface="맑은 고딕"/>
                <a:ea typeface="맑은 고딕"/>
                <a:cs typeface="맑은 고딕"/>
              </a:rPr>
              <a:t>자료</a:t>
            </a:r>
          </a:p>
        </p:txBody>
      </p:sp>
      <p:sp>
        <p:nvSpPr>
          <p:cNvPr id="10" name="ANIM_02_B">
            <a:extLst>
              <a:ext uri="{FF2B5EF4-FFF2-40B4-BE49-F238E27FC236}">
                <a16:creationId xmlns:a16="http://schemas.microsoft.com/office/drawing/2014/main" id="{BFE99214-A29C-45BE-B54D-536C65EFD0E5}"/>
              </a:ext>
            </a:extLst>
          </p:cNvPr>
          <p:cNvSpPr>
            <a:spLocks noGrp="1"/>
          </p:cNvSpPr>
          <p:nvPr/>
        </p:nvSpPr>
        <p:spPr>
          <a:xfrm>
            <a:off x="3429000" y="3286125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입력과 출력</a:t>
            </a:r>
          </a:p>
        </p:txBody>
      </p:sp>
      <p:sp>
        <p:nvSpPr>
          <p:cNvPr id="11" name="ANIM_02_C">
            <a:extLst>
              <a:ext uri="{FF2B5EF4-FFF2-40B4-BE49-F238E27FC236}">
                <a16:creationId xmlns:a16="http://schemas.microsoft.com/office/drawing/2014/main" id="{5060A4A3-CB99-4AD8-9976-D92075A92E33}"/>
              </a:ext>
            </a:extLst>
          </p:cNvPr>
          <p:cNvSpPr>
            <a:spLocks noGrp="1"/>
          </p:cNvSpPr>
          <p:nvPr/>
        </p:nvSpPr>
        <p:spPr>
          <a:xfrm>
            <a:off x="3429000" y="39052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값이 드나드는 곳</a:t>
            </a:r>
          </a:p>
        </p:txBody>
      </p:sp>
      <p:sp>
        <p:nvSpPr>
          <p:cNvPr id="12" name="ANIM_03_A">
            <a:extLst>
              <a:ext uri="{FF2B5EF4-FFF2-40B4-BE49-F238E27FC236}">
                <a16:creationId xmlns:a16="http://schemas.microsoft.com/office/drawing/2014/main" id="{2F287BB4-6F3A-4F67-8909-2B3B8D475A31}"/>
              </a:ext>
            </a:extLst>
          </p:cNvPr>
          <p:cNvSpPr>
            <a:spLocks noGrp="1"/>
          </p:cNvSpPr>
          <p:nvPr/>
        </p:nvSpPr>
        <p:spPr>
          <a:xfrm>
            <a:off x="6734175" y="1952625"/>
            <a:ext cx="2047875" cy="1000125"/>
          </a:xfrm>
          <a:prstGeom prst="diamond">
            <a:avLst/>
          </a:prstGeom>
          <a:solidFill>
            <a:srgbClr val="FFF0D9"/>
          </a:solidFill>
          <a:ln w="28575">
            <a:solidFill>
              <a:srgbClr val="EE8A00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defRPr sz="1950" b="1">
                <a:solidFill>
                  <a:srgbClr val="EE8A00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EE8A00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</p:txBody>
      </p:sp>
      <p:sp>
        <p:nvSpPr>
          <p:cNvPr id="13" name="ANIM_03_B">
            <a:extLst>
              <a:ext uri="{FF2B5EF4-FFF2-40B4-BE49-F238E27FC236}">
                <a16:creationId xmlns:a16="http://schemas.microsoft.com/office/drawing/2014/main" id="{87825970-2CBF-4C45-850F-FA7DA8C06304}"/>
              </a:ext>
            </a:extLst>
          </p:cNvPr>
          <p:cNvSpPr>
            <a:spLocks noGrp="1"/>
          </p:cNvSpPr>
          <p:nvPr/>
        </p:nvSpPr>
        <p:spPr>
          <a:xfrm>
            <a:off x="6334125" y="3286125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조건 확인과 분기</a:t>
            </a:r>
          </a:p>
        </p:txBody>
      </p:sp>
      <p:sp>
        <p:nvSpPr>
          <p:cNvPr id="14" name="ANIM_03_C">
            <a:extLst>
              <a:ext uri="{FF2B5EF4-FFF2-40B4-BE49-F238E27FC236}">
                <a16:creationId xmlns:a16="http://schemas.microsoft.com/office/drawing/2014/main" id="{26BE6085-C966-48A3-8CED-9C5281FCCC44}"/>
              </a:ext>
            </a:extLst>
          </p:cNvPr>
          <p:cNvSpPr>
            <a:spLocks noGrp="1"/>
          </p:cNvSpPr>
          <p:nvPr/>
        </p:nvSpPr>
        <p:spPr>
          <a:xfrm>
            <a:off x="6334125" y="39052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예·아니오로 나눔</a:t>
            </a:r>
          </a:p>
        </p:txBody>
      </p:sp>
      <p:sp>
        <p:nvSpPr>
          <p:cNvPr id="15" name="ANIM_04_A">
            <a:extLst>
              <a:ext uri="{FF2B5EF4-FFF2-40B4-BE49-F238E27FC236}">
                <a16:creationId xmlns:a16="http://schemas.microsoft.com/office/drawing/2014/main" id="{48D03D97-DC7C-4B1F-836F-77394DABF47C}"/>
              </a:ext>
            </a:extLst>
          </p:cNvPr>
          <p:cNvSpPr>
            <a:spLocks noGrp="1"/>
          </p:cNvSpPr>
          <p:nvPr/>
        </p:nvSpPr>
        <p:spPr>
          <a:xfrm>
            <a:off x="9639300" y="1952625"/>
            <a:ext cx="2047875" cy="1000125"/>
          </a:xfrm>
          <a:prstGeom prst="rect">
            <a:avLst/>
          </a:prstGeom>
          <a:solidFill>
            <a:srgbClr val="E8F1FF"/>
          </a:solidFill>
          <a:ln w="28575">
            <a:solidFill>
              <a:srgbClr val="2F75E8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defRPr sz="1950" b="1">
                <a:solidFill>
                  <a:srgbClr val="2F75E8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2F75E8"/>
                </a:solidFill>
                <a:latin typeface="맑은 고딕"/>
                <a:ea typeface="맑은 고딕"/>
                <a:cs typeface="맑은 고딕"/>
              </a:rPr>
              <a:t>처리</a:t>
            </a:r>
          </a:p>
        </p:txBody>
      </p:sp>
      <p:sp>
        <p:nvSpPr>
          <p:cNvPr id="16" name="ANIM_04_B">
            <a:extLst>
              <a:ext uri="{FF2B5EF4-FFF2-40B4-BE49-F238E27FC236}">
                <a16:creationId xmlns:a16="http://schemas.microsoft.com/office/drawing/2014/main" id="{4927B432-2248-4271-AF45-92A528A2853C}"/>
              </a:ext>
            </a:extLst>
          </p:cNvPr>
          <p:cNvSpPr>
            <a:spLocks noGrp="1"/>
          </p:cNvSpPr>
          <p:nvPr/>
        </p:nvSpPr>
        <p:spPr>
          <a:xfrm>
            <a:off x="9239250" y="3286125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명령 실행과 계산</a:t>
            </a:r>
          </a:p>
        </p:txBody>
      </p:sp>
      <p:sp>
        <p:nvSpPr>
          <p:cNvPr id="17" name="ANIM_04_C">
            <a:extLst>
              <a:ext uri="{FF2B5EF4-FFF2-40B4-BE49-F238E27FC236}">
                <a16:creationId xmlns:a16="http://schemas.microsoft.com/office/drawing/2014/main" id="{4555BBE7-4B33-420D-BD02-50C9ADBCAC0A}"/>
              </a:ext>
            </a:extLst>
          </p:cNvPr>
          <p:cNvSpPr>
            <a:spLocks noGrp="1"/>
          </p:cNvSpPr>
          <p:nvPr/>
        </p:nvSpPr>
        <p:spPr>
          <a:xfrm>
            <a:off x="9239250" y="39052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구체적인 행동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8C765AF-C1C8-441F-ADE0-3DD055458F46}"/>
              </a:ext>
            </a:extLst>
          </p:cNvPr>
          <p:cNvSpPr>
            <a:spLocks noGrp="1"/>
          </p:cNvSpPr>
          <p:nvPr/>
        </p:nvSpPr>
        <p:spPr>
          <a:xfrm>
            <a:off x="2476500" y="5286375"/>
            <a:ext cx="7239000" cy="666750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기호의 색은 엔트리 블록과 연결해 기억합니다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92D4EAA-3F31-48D9-BA6C-8EB569A1AFDF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73638" lnSpcReduction="10000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rPr>
              <a:t>정보 알고리즘 스튜디오</a:t>
            </a:r>
          </a:p>
        </p:txBody>
      </p:sp>
    </p:spTree>
    <p:extLst>
      <p:ext uri="{BB962C8B-B14F-4D97-AF65-F5344CB8AC3E}">
        <p14:creationId xmlns:p14="http://schemas.microsoft.com/office/powerpoint/2010/main" val="1859218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6612CFD1-25BD-4759-B5C2-BA7701F561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8136BB4-FFD6-446A-A6F7-140D7E87CEDD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2차시  순서도 연구소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EE81827-2787-4F7F-8D50-24FFE17AB287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세 가지 제어 구조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A346DD7-8EA4-450A-BF09-2C444DFC56BA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명령이 이어지는 방법에 따라 흐름이 달라집니다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0F7D74F-637F-4D37-9AD3-B9FE26149B4F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ANIM_01_A">
            <a:extLst>
              <a:ext uri="{FF2B5EF4-FFF2-40B4-BE49-F238E27FC236}">
                <a16:creationId xmlns:a16="http://schemas.microsoft.com/office/drawing/2014/main" id="{FFA0E8EB-0271-479F-A87F-94077E16B874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200025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2F75E8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2F75E8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2F75E8"/>
                </a:solidFill>
                <a:latin typeface="맑은 고딕"/>
                <a:ea typeface="맑은 고딕"/>
                <a:cs typeface="맑은 고딕"/>
              </a:rPr>
              <a:t>순차</a:t>
            </a:r>
          </a:p>
        </p:txBody>
      </p:sp>
      <p:sp>
        <p:nvSpPr>
          <p:cNvPr id="7" name="ANIM_01_B">
            <a:extLst>
              <a:ext uri="{FF2B5EF4-FFF2-40B4-BE49-F238E27FC236}">
                <a16:creationId xmlns:a16="http://schemas.microsoft.com/office/drawing/2014/main" id="{20483BF5-BAB3-4017-9D8A-B6BD7A274FC3}"/>
              </a:ext>
            </a:extLst>
          </p:cNvPr>
          <p:cNvSpPr>
            <a:spLocks noGrp="1"/>
          </p:cNvSpPr>
          <p:nvPr/>
        </p:nvSpPr>
        <p:spPr>
          <a:xfrm>
            <a:off x="3238500" y="1952625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정해진 순서대로 한 방향 진행</a:t>
            </a:r>
          </a:p>
        </p:txBody>
      </p:sp>
      <p:sp>
        <p:nvSpPr>
          <p:cNvPr id="8" name="ANIM_01_C">
            <a:extLst>
              <a:ext uri="{FF2B5EF4-FFF2-40B4-BE49-F238E27FC236}">
                <a16:creationId xmlns:a16="http://schemas.microsoft.com/office/drawing/2014/main" id="{7165FA7E-10C0-4250-B848-C17836BDBF16}"/>
              </a:ext>
            </a:extLst>
          </p:cNvPr>
          <p:cNvSpPr>
            <a:spLocks noGrp="1"/>
          </p:cNvSpPr>
          <p:nvPr/>
        </p:nvSpPr>
        <p:spPr>
          <a:xfrm>
            <a:off x="3238500" y="2476500"/>
            <a:ext cx="5715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예: 라면 끓이기</a:t>
            </a:r>
          </a:p>
        </p:txBody>
      </p:sp>
      <p:sp>
        <p:nvSpPr>
          <p:cNvPr id="9" name="ANIM_01_D">
            <a:extLst>
              <a:ext uri="{FF2B5EF4-FFF2-40B4-BE49-F238E27FC236}">
                <a16:creationId xmlns:a16="http://schemas.microsoft.com/office/drawing/2014/main" id="{67C95EAF-DAE1-4345-A4B5-ECEAB64A161E}"/>
              </a:ext>
            </a:extLst>
          </p:cNvPr>
          <p:cNvSpPr>
            <a:spLocks noGrp="1"/>
          </p:cNvSpPr>
          <p:nvPr/>
        </p:nvSpPr>
        <p:spPr>
          <a:xfrm>
            <a:off x="9525000" y="2085975"/>
            <a:ext cx="1905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2F75E8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2F75E8"/>
                </a:solidFill>
                <a:latin typeface="맑은 고딕"/>
                <a:ea typeface="맑은 고딕"/>
                <a:cs typeface="맑은 고딕"/>
              </a:rPr>
              <a:t>↓ ↓ ↓</a:t>
            </a:r>
          </a:p>
        </p:txBody>
      </p:sp>
      <p:sp>
        <p:nvSpPr>
          <p:cNvPr id="10" name="ANIM_02_A">
            <a:extLst>
              <a:ext uri="{FF2B5EF4-FFF2-40B4-BE49-F238E27FC236}">
                <a16:creationId xmlns:a16="http://schemas.microsoft.com/office/drawing/2014/main" id="{4482327F-D6A4-46DF-9711-86D5D35F0293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200025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EE8A00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EE8A00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EE8A00"/>
                </a:solidFill>
                <a:latin typeface="맑은 고딕"/>
                <a:ea typeface="맑은 고딕"/>
                <a:cs typeface="맑은 고딕"/>
              </a:rPr>
              <a:t>선택</a:t>
            </a:r>
          </a:p>
        </p:txBody>
      </p:sp>
      <p:sp>
        <p:nvSpPr>
          <p:cNvPr id="11" name="ANIM_02_B">
            <a:extLst>
              <a:ext uri="{FF2B5EF4-FFF2-40B4-BE49-F238E27FC236}">
                <a16:creationId xmlns:a16="http://schemas.microsoft.com/office/drawing/2014/main" id="{B2748F62-D719-4C7F-8D87-C9064B9CA008}"/>
              </a:ext>
            </a:extLst>
          </p:cNvPr>
          <p:cNvSpPr>
            <a:spLocks noGrp="1"/>
          </p:cNvSpPr>
          <p:nvPr/>
        </p:nvSpPr>
        <p:spPr>
          <a:xfrm>
            <a:off x="3238500" y="3238500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조건에 따라 흐름이 둘로 나뉨</a:t>
            </a:r>
          </a:p>
        </p:txBody>
      </p:sp>
      <p:sp>
        <p:nvSpPr>
          <p:cNvPr id="12" name="ANIM_02_C">
            <a:extLst>
              <a:ext uri="{FF2B5EF4-FFF2-40B4-BE49-F238E27FC236}">
                <a16:creationId xmlns:a16="http://schemas.microsoft.com/office/drawing/2014/main" id="{5944E542-239C-4657-B013-6B43DB02B70A}"/>
              </a:ext>
            </a:extLst>
          </p:cNvPr>
          <p:cNvSpPr>
            <a:spLocks noGrp="1"/>
          </p:cNvSpPr>
          <p:nvPr/>
        </p:nvSpPr>
        <p:spPr>
          <a:xfrm>
            <a:off x="3238500" y="3762375"/>
            <a:ext cx="5715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예: 놀이기구 탑승</a:t>
            </a:r>
          </a:p>
        </p:txBody>
      </p:sp>
      <p:sp>
        <p:nvSpPr>
          <p:cNvPr id="13" name="ANIM_02_D">
            <a:extLst>
              <a:ext uri="{FF2B5EF4-FFF2-40B4-BE49-F238E27FC236}">
                <a16:creationId xmlns:a16="http://schemas.microsoft.com/office/drawing/2014/main" id="{D5D586DB-3437-409E-BF76-3EDE4265720E}"/>
              </a:ext>
            </a:extLst>
          </p:cNvPr>
          <p:cNvSpPr>
            <a:spLocks noGrp="1"/>
          </p:cNvSpPr>
          <p:nvPr/>
        </p:nvSpPr>
        <p:spPr>
          <a:xfrm>
            <a:off x="9525000" y="3371850"/>
            <a:ext cx="1905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EE8A00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EE8A00"/>
                </a:solidFill>
                <a:latin typeface="맑은 고딕"/>
                <a:ea typeface="맑은 고딕"/>
                <a:cs typeface="맑은 고딕"/>
              </a:rPr>
              <a:t>◇  예 / 아니오</a:t>
            </a:r>
          </a:p>
        </p:txBody>
      </p:sp>
      <p:sp>
        <p:nvSpPr>
          <p:cNvPr id="14" name="ANIM_03_A">
            <a:extLst>
              <a:ext uri="{FF2B5EF4-FFF2-40B4-BE49-F238E27FC236}">
                <a16:creationId xmlns:a16="http://schemas.microsoft.com/office/drawing/2014/main" id="{BCCF0E26-5BE2-4B39-A43F-24818468A2DB}"/>
              </a:ext>
            </a:extLst>
          </p:cNvPr>
          <p:cNvSpPr>
            <a:spLocks noGrp="1"/>
          </p:cNvSpPr>
          <p:nvPr/>
        </p:nvSpPr>
        <p:spPr>
          <a:xfrm>
            <a:off x="762000" y="4524375"/>
            <a:ext cx="200025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13A874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13A874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13A874"/>
                </a:solidFill>
                <a:latin typeface="맑은 고딕"/>
                <a:ea typeface="맑은 고딕"/>
                <a:cs typeface="맑은 고딕"/>
              </a:rPr>
              <a:t>반복</a:t>
            </a:r>
          </a:p>
        </p:txBody>
      </p:sp>
      <p:sp>
        <p:nvSpPr>
          <p:cNvPr id="15" name="ANIM_03_B">
            <a:extLst>
              <a:ext uri="{FF2B5EF4-FFF2-40B4-BE49-F238E27FC236}">
                <a16:creationId xmlns:a16="http://schemas.microsoft.com/office/drawing/2014/main" id="{D59D799F-9666-488E-9A11-C1502E151AE1}"/>
              </a:ext>
            </a:extLst>
          </p:cNvPr>
          <p:cNvSpPr>
            <a:spLocks noGrp="1"/>
          </p:cNvSpPr>
          <p:nvPr/>
        </p:nvSpPr>
        <p:spPr>
          <a:xfrm>
            <a:off x="3238500" y="4524375"/>
            <a:ext cx="5715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조건을 확인하며 같은 흐름을 되풀이</a:t>
            </a:r>
          </a:p>
        </p:txBody>
      </p:sp>
      <p:sp>
        <p:nvSpPr>
          <p:cNvPr id="16" name="ANIM_03_C">
            <a:extLst>
              <a:ext uri="{FF2B5EF4-FFF2-40B4-BE49-F238E27FC236}">
                <a16:creationId xmlns:a16="http://schemas.microsoft.com/office/drawing/2014/main" id="{2B44A5F4-D7AF-48BA-BC21-0C5ACB0712E2}"/>
              </a:ext>
            </a:extLst>
          </p:cNvPr>
          <p:cNvSpPr>
            <a:spLocks noGrp="1"/>
          </p:cNvSpPr>
          <p:nvPr/>
        </p:nvSpPr>
        <p:spPr>
          <a:xfrm>
            <a:off x="3238500" y="5048250"/>
            <a:ext cx="5715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예: 비밀번호 확인</a:t>
            </a:r>
          </a:p>
        </p:txBody>
      </p:sp>
      <p:sp>
        <p:nvSpPr>
          <p:cNvPr id="17" name="ANIM_03_D">
            <a:extLst>
              <a:ext uri="{FF2B5EF4-FFF2-40B4-BE49-F238E27FC236}">
                <a16:creationId xmlns:a16="http://schemas.microsoft.com/office/drawing/2014/main" id="{A347DF1C-CF48-425C-B240-CCFF912A08A8}"/>
              </a:ext>
            </a:extLst>
          </p:cNvPr>
          <p:cNvSpPr>
            <a:spLocks noGrp="1"/>
          </p:cNvSpPr>
          <p:nvPr/>
        </p:nvSpPr>
        <p:spPr>
          <a:xfrm>
            <a:off x="9525000" y="4657725"/>
            <a:ext cx="1905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3A874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3A874"/>
                </a:solidFill>
                <a:latin typeface="맑은 고딕"/>
                <a:ea typeface="맑은 고딕"/>
                <a:cs typeface="맑은 고딕"/>
              </a:rPr>
              <a:t>↩ 다시 확인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3754763-B617-41C5-B4D2-C0136812711B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73638" lnSpcReduction="10000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rPr>
              <a:t>정보 알고리즘 스튜디오</a:t>
            </a:r>
          </a:p>
        </p:txBody>
      </p:sp>
    </p:spTree>
    <p:extLst>
      <p:ext uri="{BB962C8B-B14F-4D97-AF65-F5344CB8AC3E}">
        <p14:creationId xmlns:p14="http://schemas.microsoft.com/office/powerpoint/2010/main" val="208721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  <p:bldP spid="10" grpId="0" animBg="1"/>
      <p:bldP spid="11" grpId="0"/>
      <p:bldP spid="12" grpId="0"/>
      <p:bldP spid="13" grpId="0"/>
      <p:bldP spid="14" grpId="0" animBg="1"/>
      <p:bldP spid="15" grpId="0"/>
      <p:bldP spid="16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CEF44B5C-D7FF-400E-A2F7-1A5D1140E2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97BC041-3CCD-40F3-836B-31C99F09FDF8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2차시  순서도 연구소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56FA88-2FDD-4C89-AC93-3B2DB92C003E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순차 구조  라면 끓이기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9A259DB-8BE3-497E-B2FC-FD7CF936FBE2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명령을 위에서 아래로 정해진 순서대로 실행합니다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DBADB35-71FA-41B7-88A1-821AD2CBE419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ANIM_01_A">
            <a:extLst>
              <a:ext uri="{FF2B5EF4-FFF2-40B4-BE49-F238E27FC236}">
                <a16:creationId xmlns:a16="http://schemas.microsoft.com/office/drawing/2014/main" id="{F59D9357-6B5F-444C-BDC7-337266278760}"/>
              </a:ext>
            </a:extLst>
          </p:cNvPr>
          <p:cNvSpPr>
            <a:spLocks noGrp="1"/>
          </p:cNvSpPr>
          <p:nvPr/>
        </p:nvSpPr>
        <p:spPr>
          <a:xfrm>
            <a:off x="4095750" y="1666875"/>
            <a:ext cx="4000500" cy="590550"/>
          </a:xfrm>
          <a:prstGeom prst="ellipse">
            <a:avLst/>
          </a:prstGeom>
          <a:solidFill>
            <a:srgbClr val="F5EAFF"/>
          </a:solidFill>
          <a:ln w="23813">
            <a:solidFill>
              <a:srgbClr val="8B3DFF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8B3D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8B3DFF"/>
                </a:solidFill>
                <a:latin typeface="맑은 고딕"/>
                <a:ea typeface="맑은 고딕"/>
                <a:cs typeface="맑은 고딕"/>
              </a:rPr>
              <a:t>시작</a:t>
            </a:r>
          </a:p>
        </p:txBody>
      </p:sp>
      <p:sp>
        <p:nvSpPr>
          <p:cNvPr id="7" name="ANIM_02_A">
            <a:extLst>
              <a:ext uri="{FF2B5EF4-FFF2-40B4-BE49-F238E27FC236}">
                <a16:creationId xmlns:a16="http://schemas.microsoft.com/office/drawing/2014/main" id="{7DDDD241-1D33-4A55-AA3D-EE24AD9E1A2D}"/>
              </a:ext>
            </a:extLst>
          </p:cNvPr>
          <p:cNvSpPr>
            <a:spLocks noGrp="1"/>
          </p:cNvSpPr>
          <p:nvPr/>
        </p:nvSpPr>
        <p:spPr>
          <a:xfrm>
            <a:off x="4095750" y="2562225"/>
            <a:ext cx="4000500" cy="590550"/>
          </a:xfrm>
          <a:prstGeom prst="parallelogram">
            <a:avLst/>
          </a:prstGeom>
          <a:solidFill>
            <a:srgbClr val="E8FBF4"/>
          </a:solidFill>
          <a:ln w="23813">
            <a:solidFill>
              <a:srgbClr val="13A874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3A874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3A874"/>
                </a:solidFill>
                <a:latin typeface="맑은 고딕"/>
                <a:ea typeface="맑은 고딕"/>
                <a:cs typeface="맑은 고딕"/>
              </a:rPr>
              <a:t>물 500mL 넣기</a:t>
            </a:r>
          </a:p>
        </p:txBody>
      </p:sp>
      <p:cxnSp>
        <p:nvCxnSpPr>
          <p:cNvPr id="24" name="ANIM_02_B"/>
          <p:cNvCxnSpPr>
            <a:stCxn id="6" idx="4"/>
            <a:endCxn id="7" idx="0"/>
          </p:cNvCxnSpPr>
          <p:nvPr/>
        </p:nvCxnSpPr>
        <p:spPr>
          <a:xfrm>
            <a:off x="6096000" y="2257425"/>
            <a:ext cx="0" cy="304800"/>
          </a:xfrm>
          <a:prstGeom prst="straightConnector1">
            <a:avLst/>
          </a:prstGeom>
          <a:ln w="28575">
            <a:solidFill>
              <a:srgbClr val="8291A6"/>
            </a:solidFill>
            <a:prstDash val="solid"/>
            <a:tailEnd type="triangle" w="sm" len="sm"/>
          </a:ln>
        </p:spPr>
      </p:cxnSp>
      <p:sp>
        <p:nvSpPr>
          <p:cNvPr id="9" name="ANIM_03_A">
            <a:extLst>
              <a:ext uri="{FF2B5EF4-FFF2-40B4-BE49-F238E27FC236}">
                <a16:creationId xmlns:a16="http://schemas.microsoft.com/office/drawing/2014/main" id="{6258254F-F259-498D-B62A-19C527389A93}"/>
              </a:ext>
            </a:extLst>
          </p:cNvPr>
          <p:cNvSpPr>
            <a:spLocks noGrp="1"/>
          </p:cNvSpPr>
          <p:nvPr/>
        </p:nvSpPr>
        <p:spPr>
          <a:xfrm>
            <a:off x="4095750" y="3457575"/>
            <a:ext cx="4000500" cy="590550"/>
          </a:xfrm>
          <a:prstGeom prst="rect">
            <a:avLst/>
          </a:prstGeom>
          <a:solidFill>
            <a:srgbClr val="E8F1FF"/>
          </a:solidFill>
          <a:ln w="23813">
            <a:solidFill>
              <a:srgbClr val="2F75E8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2F75E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2F75E8"/>
                </a:solidFill>
                <a:latin typeface="맑은 고딕"/>
                <a:ea typeface="맑은 고딕"/>
                <a:cs typeface="맑은 고딕"/>
              </a:rPr>
              <a:t>물을 끓이기</a:t>
            </a:r>
          </a:p>
        </p:txBody>
      </p:sp>
      <p:cxnSp>
        <p:nvCxnSpPr>
          <p:cNvPr id="26" name="ANIM_03_B"/>
          <p:cNvCxnSpPr>
            <a:stCxn id="7" idx="4"/>
            <a:endCxn id="9" idx="0"/>
          </p:cNvCxnSpPr>
          <p:nvPr/>
        </p:nvCxnSpPr>
        <p:spPr>
          <a:xfrm>
            <a:off x="6096000" y="3152775"/>
            <a:ext cx="0" cy="304800"/>
          </a:xfrm>
          <a:prstGeom prst="straightConnector1">
            <a:avLst/>
          </a:prstGeom>
          <a:ln w="28575">
            <a:solidFill>
              <a:srgbClr val="8291A6"/>
            </a:solidFill>
            <a:prstDash val="solid"/>
            <a:tailEnd type="triangle" w="sm" len="sm"/>
          </a:ln>
        </p:spPr>
      </p:cxnSp>
      <p:sp>
        <p:nvSpPr>
          <p:cNvPr id="11" name="ANIM_04_A">
            <a:extLst>
              <a:ext uri="{FF2B5EF4-FFF2-40B4-BE49-F238E27FC236}">
                <a16:creationId xmlns:a16="http://schemas.microsoft.com/office/drawing/2014/main" id="{A035B965-2D63-4AA4-8F97-D2BF62DD9BAB}"/>
              </a:ext>
            </a:extLst>
          </p:cNvPr>
          <p:cNvSpPr>
            <a:spLocks noGrp="1"/>
          </p:cNvSpPr>
          <p:nvPr/>
        </p:nvSpPr>
        <p:spPr>
          <a:xfrm>
            <a:off x="4095750" y="4352925"/>
            <a:ext cx="4000500" cy="590550"/>
          </a:xfrm>
          <a:prstGeom prst="rect">
            <a:avLst/>
          </a:prstGeom>
          <a:solidFill>
            <a:srgbClr val="E8F1FF"/>
          </a:solidFill>
          <a:ln w="23813">
            <a:solidFill>
              <a:srgbClr val="2F75E8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2F75E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2F75E8"/>
                </a:solidFill>
                <a:latin typeface="맑은 고딕"/>
                <a:ea typeface="맑은 고딕"/>
                <a:cs typeface="맑은 고딕"/>
              </a:rPr>
              <a:t>면과 수프 넣기</a:t>
            </a:r>
          </a:p>
        </p:txBody>
      </p:sp>
      <p:cxnSp>
        <p:nvCxnSpPr>
          <p:cNvPr id="28" name="ANIM_04_B"/>
          <p:cNvCxnSpPr>
            <a:stCxn id="9" idx="2"/>
            <a:endCxn id="11" idx="0"/>
          </p:cNvCxnSpPr>
          <p:nvPr/>
        </p:nvCxnSpPr>
        <p:spPr>
          <a:xfrm>
            <a:off x="6096000" y="4048125"/>
            <a:ext cx="0" cy="304800"/>
          </a:xfrm>
          <a:prstGeom prst="straightConnector1">
            <a:avLst/>
          </a:prstGeom>
          <a:ln w="28575">
            <a:solidFill>
              <a:srgbClr val="8291A6"/>
            </a:solidFill>
            <a:prstDash val="solid"/>
            <a:tailEnd type="triangle" w="sm" len="sm"/>
          </a:ln>
        </p:spPr>
      </p:cxnSp>
      <p:sp>
        <p:nvSpPr>
          <p:cNvPr id="13" name="ANIM_05_A">
            <a:extLst>
              <a:ext uri="{FF2B5EF4-FFF2-40B4-BE49-F238E27FC236}">
                <a16:creationId xmlns:a16="http://schemas.microsoft.com/office/drawing/2014/main" id="{6C5941D2-50F0-4EE3-8091-4DEBA1B28394}"/>
              </a:ext>
            </a:extLst>
          </p:cNvPr>
          <p:cNvSpPr>
            <a:spLocks noGrp="1"/>
          </p:cNvSpPr>
          <p:nvPr/>
        </p:nvSpPr>
        <p:spPr>
          <a:xfrm>
            <a:off x="4095750" y="5248275"/>
            <a:ext cx="4000500" cy="590550"/>
          </a:xfrm>
          <a:prstGeom prst="ellipse">
            <a:avLst/>
          </a:prstGeom>
          <a:solidFill>
            <a:srgbClr val="F5EAFF"/>
          </a:solidFill>
          <a:ln w="23813">
            <a:solidFill>
              <a:srgbClr val="8B3DFF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8B3D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8B3DFF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</p:txBody>
      </p:sp>
      <p:cxnSp>
        <p:nvCxnSpPr>
          <p:cNvPr id="30" name="ANIM_05_B"/>
          <p:cNvCxnSpPr>
            <a:stCxn id="11" idx="2"/>
            <a:endCxn id="13" idx="0"/>
          </p:cNvCxnSpPr>
          <p:nvPr/>
        </p:nvCxnSpPr>
        <p:spPr>
          <a:xfrm>
            <a:off x="6096000" y="4943475"/>
            <a:ext cx="0" cy="304800"/>
          </a:xfrm>
          <a:prstGeom prst="straightConnector1">
            <a:avLst/>
          </a:prstGeom>
          <a:ln w="28575">
            <a:solidFill>
              <a:srgbClr val="8291A6"/>
            </a:solidFill>
            <a:prstDash val="solid"/>
            <a:tailEnd type="triangle" w="sm" len="sm"/>
          </a:ln>
        </p:spPr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E42F0D0-DA0C-491F-B8E4-C2E42D0A77E3}"/>
              </a:ext>
            </a:extLst>
          </p:cNvPr>
          <p:cNvSpPr>
            <a:spLocks noGrp="1"/>
          </p:cNvSpPr>
          <p:nvPr/>
        </p:nvSpPr>
        <p:spPr>
          <a:xfrm>
            <a:off x="8477250" y="3143250"/>
            <a:ext cx="2857500" cy="952500"/>
          </a:xfrm>
          <a:prstGeom prst="roundRect">
            <a:avLst>
              <a:gd name="adj" fmla="val 14000"/>
            </a:avLst>
          </a:prstGeom>
          <a:solidFill>
            <a:srgbClr val="EAF1FF"/>
          </a:solidFill>
          <a:ln w="9525">
            <a:solidFill>
              <a:srgbClr val="B8CCFF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순서를 바꾸면 결과도 달라집니다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7A83C78-62DC-42C5-9ACE-6A9A9A8ECB01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73638" lnSpcReduction="10000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rPr>
              <a:t>정보 알고리즘 스튜디오</a:t>
            </a:r>
          </a:p>
        </p:txBody>
      </p:sp>
    </p:spTree>
    <p:extLst>
      <p:ext uri="{BB962C8B-B14F-4D97-AF65-F5344CB8AC3E}">
        <p14:creationId xmlns:p14="http://schemas.microsoft.com/office/powerpoint/2010/main" val="1743298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1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E0A774F8-30D3-4B6D-9111-E6980B53B2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245F61-DEFA-41A5-9DB3-9DA43A1D1AD0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2차시  순서도 연구소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AF84F1-D7F4-4919-88A8-BC7359D83024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선택 구조  놀이기구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669A6E3-BFD3-4453-8493-8C41FBCAA0B4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조건의 결과에 따라 서로 다른 행동을 실행합니다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B1BA67-3D78-44B1-8A7B-9CDFCA0DA081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ANIM_01_A">
            <a:extLst>
              <a:ext uri="{FF2B5EF4-FFF2-40B4-BE49-F238E27FC236}">
                <a16:creationId xmlns:a16="http://schemas.microsoft.com/office/drawing/2014/main" id="{949442EE-F2B4-4D80-B24C-981C2A5C7B8B}"/>
              </a:ext>
            </a:extLst>
          </p:cNvPr>
          <p:cNvSpPr>
            <a:spLocks noGrp="1"/>
          </p:cNvSpPr>
          <p:nvPr/>
        </p:nvSpPr>
        <p:spPr>
          <a:xfrm>
            <a:off x="4667250" y="1666875"/>
            <a:ext cx="2857500" cy="590550"/>
          </a:xfrm>
          <a:prstGeom prst="rect">
            <a:avLst/>
          </a:prstGeom>
          <a:solidFill>
            <a:srgbClr val="E8FBF4"/>
          </a:solidFill>
          <a:ln w="9525">
            <a:solidFill>
              <a:srgbClr val="13A874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3A874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3A874"/>
                </a:solidFill>
                <a:latin typeface="맑은 고딕"/>
                <a:ea typeface="맑은 고딕"/>
                <a:cs typeface="맑은 고딕"/>
              </a:rPr>
              <a:t>키 입력</a:t>
            </a:r>
          </a:p>
        </p:txBody>
      </p:sp>
      <p:sp>
        <p:nvSpPr>
          <p:cNvPr id="7" name="ANIM_02_A">
            <a:extLst>
              <a:ext uri="{FF2B5EF4-FFF2-40B4-BE49-F238E27FC236}">
                <a16:creationId xmlns:a16="http://schemas.microsoft.com/office/drawing/2014/main" id="{A48D1D55-93A4-4702-8C7F-A62B52285BFF}"/>
              </a:ext>
            </a:extLst>
          </p:cNvPr>
          <p:cNvSpPr>
            <a:spLocks noGrp="1"/>
          </p:cNvSpPr>
          <p:nvPr/>
        </p:nvSpPr>
        <p:spPr>
          <a:xfrm>
            <a:off x="4572000" y="2619375"/>
            <a:ext cx="3048000" cy="1333500"/>
          </a:xfrm>
          <a:prstGeom prst="diamond">
            <a:avLst/>
          </a:prstGeom>
          <a:solidFill>
            <a:srgbClr val="FFF0D9"/>
          </a:solidFill>
          <a:ln w="23813">
            <a:solidFill>
              <a:srgbClr val="EE8A00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EE8A0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EE8A00"/>
                </a:solidFill>
                <a:latin typeface="맑은 고딕"/>
                <a:ea typeface="맑은 고딕"/>
                <a:cs typeface="맑은 고딕"/>
              </a:rPr>
              <a:t>키가 150cm 이상인가?</a:t>
            </a:r>
          </a:p>
        </p:txBody>
      </p:sp>
      <p:sp>
        <p:nvSpPr>
          <p:cNvPr id="8" name="ANIM_03_A">
            <a:extLst>
              <a:ext uri="{FF2B5EF4-FFF2-40B4-BE49-F238E27FC236}">
                <a16:creationId xmlns:a16="http://schemas.microsoft.com/office/drawing/2014/main" id="{1247C7E4-3713-4EC8-86DC-D4777BF74825}"/>
              </a:ext>
            </a:extLst>
          </p:cNvPr>
          <p:cNvSpPr>
            <a:spLocks noGrp="1"/>
          </p:cNvSpPr>
          <p:nvPr/>
        </p:nvSpPr>
        <p:spPr>
          <a:xfrm>
            <a:off x="2095500" y="4762500"/>
            <a:ext cx="2857500" cy="666750"/>
          </a:xfrm>
          <a:prstGeom prst="roundRect">
            <a:avLst>
              <a:gd name="adj" fmla="val 11429"/>
            </a:avLst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탑승 가능</a:t>
            </a:r>
          </a:p>
        </p:txBody>
      </p:sp>
      <p:sp>
        <p:nvSpPr>
          <p:cNvPr id="9" name="ANIM_04_A">
            <a:extLst>
              <a:ext uri="{FF2B5EF4-FFF2-40B4-BE49-F238E27FC236}">
                <a16:creationId xmlns:a16="http://schemas.microsoft.com/office/drawing/2014/main" id="{1F9B8DC7-1A05-44B0-900F-BA2D36D75B6F}"/>
              </a:ext>
            </a:extLst>
          </p:cNvPr>
          <p:cNvSpPr>
            <a:spLocks noGrp="1"/>
          </p:cNvSpPr>
          <p:nvPr/>
        </p:nvSpPr>
        <p:spPr>
          <a:xfrm>
            <a:off x="7239000" y="4762500"/>
            <a:ext cx="2857500" cy="666750"/>
          </a:xfrm>
          <a:prstGeom prst="roundRect">
            <a:avLst>
              <a:gd name="adj" fmla="val 11429"/>
            </a:avLst>
          </a:prstGeom>
          <a:solidFill>
            <a:srgbClr val="FFF0F0"/>
          </a:solidFill>
          <a:ln w="9525">
            <a:solidFill>
              <a:srgbClr val="F2AAAA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D94343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D94343"/>
                </a:solidFill>
                <a:latin typeface="맑은 고딕"/>
                <a:ea typeface="맑은 고딕"/>
                <a:cs typeface="맑은 고딕"/>
              </a:rPr>
              <a:t>탑승 불가 안내</a:t>
            </a:r>
          </a:p>
        </p:txBody>
      </p:sp>
      <p:cxnSp>
        <p:nvCxnSpPr>
          <p:cNvPr id="25" name="ANIM_02_B"/>
          <p:cNvCxnSpPr>
            <a:stCxn id="6" idx="2"/>
            <a:endCxn id="7" idx="0"/>
          </p:cNvCxnSpPr>
          <p:nvPr/>
        </p:nvCxnSpPr>
        <p:spPr>
          <a:xfrm>
            <a:off x="6096000" y="2257425"/>
            <a:ext cx="0" cy="361950"/>
          </a:xfrm>
          <a:prstGeom prst="straightConnector1">
            <a:avLst/>
          </a:prstGeom>
          <a:ln w="28575">
            <a:solidFill>
              <a:srgbClr val="8291A6"/>
            </a:solidFill>
            <a:prstDash val="solid"/>
            <a:tailEnd type="triangle" w="sm" len="sm"/>
          </a:ln>
        </p:spPr>
      </p:cxnSp>
      <p:cxnSp>
        <p:nvCxnSpPr>
          <p:cNvPr id="26" name="ANIM_03_B"/>
          <p:cNvCxnSpPr>
            <a:stCxn id="7" idx="1"/>
            <a:endCxn id="8" idx="0"/>
          </p:cNvCxnSpPr>
          <p:nvPr/>
        </p:nvCxnSpPr>
        <p:spPr>
          <a:xfrm flipH="1">
            <a:off x="3524250" y="3286125"/>
            <a:ext cx="1047750" cy="1476375"/>
          </a:xfrm>
          <a:prstGeom prst="bentConnector4">
            <a:avLst>
              <a:gd name="adj1" fmla="val 100275"/>
              <a:gd name="adj2" fmla="val 84516"/>
            </a:avLst>
          </a:prstGeom>
          <a:ln w="28575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27" name="ANIM_04_B"/>
          <p:cNvCxnSpPr>
            <a:stCxn id="7" idx="3"/>
            <a:endCxn id="9" idx="0"/>
          </p:cNvCxnSpPr>
          <p:nvPr/>
        </p:nvCxnSpPr>
        <p:spPr>
          <a:xfrm>
            <a:off x="7620000" y="3286125"/>
            <a:ext cx="1047750" cy="1476375"/>
          </a:xfrm>
          <a:prstGeom prst="bentConnector2">
            <a:avLst/>
          </a:prstGeom>
          <a:ln w="28575">
            <a:solidFill>
              <a:srgbClr val="D94343"/>
            </a:solidFill>
            <a:prstDash val="solid"/>
            <a:tailEnd type="triangle" w="sm" len="sm"/>
          </a:ln>
        </p:spPr>
      </p:cxnSp>
      <p:sp>
        <p:nvSpPr>
          <p:cNvPr id="13" name="ANIM_03_C">
            <a:extLst>
              <a:ext uri="{FF2B5EF4-FFF2-40B4-BE49-F238E27FC236}">
                <a16:creationId xmlns:a16="http://schemas.microsoft.com/office/drawing/2014/main" id="{E1DFC9AC-AACB-4558-B755-B463845300A6}"/>
              </a:ext>
            </a:extLst>
          </p:cNvPr>
          <p:cNvSpPr>
            <a:spLocks noGrp="1"/>
          </p:cNvSpPr>
          <p:nvPr/>
        </p:nvSpPr>
        <p:spPr>
          <a:xfrm>
            <a:off x="3286125" y="4057650"/>
            <a:ext cx="666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</p:txBody>
      </p:sp>
      <p:sp>
        <p:nvSpPr>
          <p:cNvPr id="14" name="ANIM_04_C">
            <a:extLst>
              <a:ext uri="{FF2B5EF4-FFF2-40B4-BE49-F238E27FC236}">
                <a16:creationId xmlns:a16="http://schemas.microsoft.com/office/drawing/2014/main" id="{AAE8A378-FC69-4E87-A50B-CB78F8CCD061}"/>
              </a:ext>
            </a:extLst>
          </p:cNvPr>
          <p:cNvSpPr>
            <a:spLocks noGrp="1"/>
          </p:cNvSpPr>
          <p:nvPr/>
        </p:nvSpPr>
        <p:spPr>
          <a:xfrm>
            <a:off x="8239125" y="4057650"/>
            <a:ext cx="857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D9434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D94343"/>
                </a:solidFill>
                <a:latin typeface="맑은 고딕"/>
                <a:ea typeface="맑은 고딕"/>
                <a:cs typeface="맑은 고딕"/>
              </a:rPr>
              <a:t>아니오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9385DBE-3EC8-435A-BEC2-4F6886DEF798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73638" lnSpcReduction="10000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rPr>
              <a:t>정보 알고리즘 스튜디오</a:t>
            </a:r>
          </a:p>
        </p:txBody>
      </p:sp>
    </p:spTree>
    <p:extLst>
      <p:ext uri="{BB962C8B-B14F-4D97-AF65-F5344CB8AC3E}">
        <p14:creationId xmlns:p14="http://schemas.microsoft.com/office/powerpoint/2010/main" val="1990880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3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5D744F-A0DD-489D-A79C-4AC5CF8700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E271854-77D4-4ACD-8749-E0DDC95B7D3F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2차시  순서도 연구소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D25C6E7-BBCD-4DCF-9E1C-AEBE41EC5B8D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반복 구조  비밀번호 확인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0DB7A8A-1FBB-4156-B678-A3DEA0BB2715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조건을 만족하지 못하면 이전 단계로 돌아갑니다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B6F2D9-72A6-4AFE-BB0D-5B64A69ADA11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ANIM_01_A">
            <a:extLst>
              <a:ext uri="{FF2B5EF4-FFF2-40B4-BE49-F238E27FC236}">
                <a16:creationId xmlns:a16="http://schemas.microsoft.com/office/drawing/2014/main" id="{69AB8C3F-14A2-42D6-87DF-EF8D389FB119}"/>
              </a:ext>
            </a:extLst>
          </p:cNvPr>
          <p:cNvSpPr>
            <a:spLocks noGrp="1"/>
          </p:cNvSpPr>
          <p:nvPr/>
        </p:nvSpPr>
        <p:spPr>
          <a:xfrm>
            <a:off x="4667250" y="1619250"/>
            <a:ext cx="2857500" cy="619125"/>
          </a:xfrm>
          <a:prstGeom prst="rect">
            <a:avLst/>
          </a:prstGeom>
          <a:solidFill>
            <a:srgbClr val="E8FBF4"/>
          </a:solidFill>
          <a:ln w="9525">
            <a:solidFill>
              <a:srgbClr val="13A874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3A874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3A874"/>
                </a:solidFill>
                <a:latin typeface="맑은 고딕"/>
                <a:ea typeface="맑은 고딕"/>
                <a:cs typeface="맑은 고딕"/>
              </a:rPr>
              <a:t>비밀번호 입력</a:t>
            </a:r>
          </a:p>
        </p:txBody>
      </p:sp>
      <p:sp>
        <p:nvSpPr>
          <p:cNvPr id="7" name="ANIM_02_A">
            <a:extLst>
              <a:ext uri="{FF2B5EF4-FFF2-40B4-BE49-F238E27FC236}">
                <a16:creationId xmlns:a16="http://schemas.microsoft.com/office/drawing/2014/main" id="{86CE0277-62C7-48E0-BE52-6268A2D317F9}"/>
              </a:ext>
            </a:extLst>
          </p:cNvPr>
          <p:cNvSpPr>
            <a:spLocks noGrp="1"/>
          </p:cNvSpPr>
          <p:nvPr/>
        </p:nvSpPr>
        <p:spPr>
          <a:xfrm>
            <a:off x="4619625" y="2667000"/>
            <a:ext cx="2952750" cy="1333500"/>
          </a:xfrm>
          <a:prstGeom prst="diamond">
            <a:avLst/>
          </a:prstGeom>
          <a:solidFill>
            <a:srgbClr val="FFF0D9"/>
          </a:solidFill>
          <a:ln w="23813">
            <a:solidFill>
              <a:srgbClr val="EE8A00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EE8A0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EE8A00"/>
                </a:solidFill>
                <a:latin typeface="맑은 고딕"/>
                <a:ea typeface="맑은 고딕"/>
                <a:cs typeface="맑은 고딕"/>
              </a:rPr>
              <a:t>비밀번호가 일치하는가?</a:t>
            </a:r>
          </a:p>
        </p:txBody>
      </p:sp>
      <p:sp>
        <p:nvSpPr>
          <p:cNvPr id="8" name="ANIM_03_A">
            <a:extLst>
              <a:ext uri="{FF2B5EF4-FFF2-40B4-BE49-F238E27FC236}">
                <a16:creationId xmlns:a16="http://schemas.microsoft.com/office/drawing/2014/main" id="{E627965B-86EB-4A2B-9FC8-EA02CE782F78}"/>
              </a:ext>
            </a:extLst>
          </p:cNvPr>
          <p:cNvSpPr>
            <a:spLocks noGrp="1"/>
          </p:cNvSpPr>
          <p:nvPr/>
        </p:nvSpPr>
        <p:spPr>
          <a:xfrm>
            <a:off x="7239000" y="4953000"/>
            <a:ext cx="2857500" cy="666750"/>
          </a:xfrm>
          <a:prstGeom prst="roundRect">
            <a:avLst>
              <a:gd name="adj" fmla="val 11429"/>
            </a:avLst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로그인 성공</a:t>
            </a:r>
          </a:p>
        </p:txBody>
      </p:sp>
      <p:sp>
        <p:nvSpPr>
          <p:cNvPr id="9" name="ANIM_04_A">
            <a:extLst>
              <a:ext uri="{FF2B5EF4-FFF2-40B4-BE49-F238E27FC236}">
                <a16:creationId xmlns:a16="http://schemas.microsoft.com/office/drawing/2014/main" id="{A80A1681-26D6-4A80-85B8-DDF8068648AB}"/>
              </a:ext>
            </a:extLst>
          </p:cNvPr>
          <p:cNvSpPr>
            <a:spLocks noGrp="1"/>
          </p:cNvSpPr>
          <p:nvPr/>
        </p:nvSpPr>
        <p:spPr>
          <a:xfrm>
            <a:off x="2095500" y="4953000"/>
            <a:ext cx="2857500" cy="666750"/>
          </a:xfrm>
          <a:prstGeom prst="roundRect">
            <a:avLst>
              <a:gd name="adj" fmla="val 11429"/>
            </a:avLst>
          </a:prstGeom>
          <a:solidFill>
            <a:srgbClr val="FFF0F0"/>
          </a:solidFill>
          <a:ln w="9525">
            <a:solidFill>
              <a:srgbClr val="F2AAAA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D94343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D94343"/>
                </a:solidFill>
                <a:latin typeface="맑은 고딕"/>
                <a:ea typeface="맑은 고딕"/>
                <a:cs typeface="맑은 고딕"/>
              </a:rPr>
              <a:t>불일치 안내</a:t>
            </a:r>
          </a:p>
        </p:txBody>
      </p:sp>
      <p:cxnSp>
        <p:nvCxnSpPr>
          <p:cNvPr id="25" name="ANIM_02_B"/>
          <p:cNvCxnSpPr>
            <a:stCxn id="6" idx="2"/>
            <a:endCxn id="7" idx="0"/>
          </p:cNvCxnSpPr>
          <p:nvPr/>
        </p:nvCxnSpPr>
        <p:spPr>
          <a:xfrm>
            <a:off x="6096000" y="2238375"/>
            <a:ext cx="0" cy="428625"/>
          </a:xfrm>
          <a:prstGeom prst="straightConnector1">
            <a:avLst/>
          </a:prstGeom>
          <a:ln w="28575">
            <a:solidFill>
              <a:srgbClr val="8291A6"/>
            </a:solidFill>
            <a:prstDash val="solid"/>
            <a:tailEnd type="triangle" w="sm" len="sm"/>
          </a:ln>
        </p:spPr>
      </p:cxnSp>
      <p:cxnSp>
        <p:nvCxnSpPr>
          <p:cNvPr id="26" name="ANIM_03_B"/>
          <p:cNvCxnSpPr>
            <a:stCxn id="7" idx="3"/>
            <a:endCxn id="8" idx="0"/>
          </p:cNvCxnSpPr>
          <p:nvPr/>
        </p:nvCxnSpPr>
        <p:spPr>
          <a:xfrm>
            <a:off x="7572375" y="3333750"/>
            <a:ext cx="1095375" cy="1619250"/>
          </a:xfrm>
          <a:prstGeom prst="bentConnector2">
            <a:avLst/>
          </a:prstGeom>
          <a:ln w="28575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27" name="ANIM_04_B"/>
          <p:cNvCxnSpPr>
            <a:stCxn id="7" idx="1"/>
            <a:endCxn id="9" idx="0"/>
          </p:cNvCxnSpPr>
          <p:nvPr/>
        </p:nvCxnSpPr>
        <p:spPr>
          <a:xfrm flipH="1">
            <a:off x="3524250" y="3333750"/>
            <a:ext cx="1095375" cy="1619250"/>
          </a:xfrm>
          <a:prstGeom prst="bentConnector2">
            <a:avLst/>
          </a:prstGeom>
          <a:ln w="28575">
            <a:solidFill>
              <a:srgbClr val="D94343"/>
            </a:solidFill>
            <a:prstDash val="solid"/>
            <a:tailEnd type="triangle" w="sm" len="sm"/>
          </a:ln>
        </p:spPr>
      </p:cxnSp>
      <p:cxnSp>
        <p:nvCxnSpPr>
          <p:cNvPr id="28" name="ANIM_05_A"/>
          <p:cNvCxnSpPr>
            <a:cxnSpLocks/>
            <a:stCxn id="9" idx="1"/>
            <a:endCxn id="7" idx="0"/>
          </p:cNvCxnSpPr>
          <p:nvPr/>
        </p:nvCxnSpPr>
        <p:spPr>
          <a:xfrm rot="10800000" flipH="1">
            <a:off x="2095500" y="2667001"/>
            <a:ext cx="4000500" cy="2619375"/>
          </a:xfrm>
          <a:prstGeom prst="bentConnector4">
            <a:avLst>
              <a:gd name="adj1" fmla="val -5714"/>
              <a:gd name="adj2" fmla="val 108727"/>
            </a:avLst>
          </a:prstGeom>
          <a:ln w="28575">
            <a:solidFill>
              <a:srgbClr val="E87918"/>
            </a:solidFill>
            <a:prstDash val="dash"/>
            <a:tailEnd type="triangle" w="sm" len="sm"/>
          </a:ln>
        </p:spPr>
      </p:cxnSp>
      <p:sp>
        <p:nvSpPr>
          <p:cNvPr id="14" name="ANIM_05_B">
            <a:extLst>
              <a:ext uri="{FF2B5EF4-FFF2-40B4-BE49-F238E27FC236}">
                <a16:creationId xmlns:a16="http://schemas.microsoft.com/office/drawing/2014/main" id="{4CDEE8E2-A401-47E6-BAA8-B12E96FEAE63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2238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E87918"/>
                </a:solidFill>
                <a:latin typeface="맑은 고딕"/>
                <a:ea typeface="맑은 고딕"/>
                <a:cs typeface="맑은 고딕"/>
              </a:rPr>
              <a:t>틀리면 다시 입력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21C229A-F590-4FAE-8454-D60FEF0C6F1D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73638" lnSpcReduction="10000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rPr>
              <a:t>정보 알고리즘 스튜디오</a:t>
            </a:r>
          </a:p>
        </p:txBody>
      </p:sp>
    </p:spTree>
    <p:extLst>
      <p:ext uri="{BB962C8B-B14F-4D97-AF65-F5344CB8AC3E}">
        <p14:creationId xmlns:p14="http://schemas.microsoft.com/office/powerpoint/2010/main" val="196404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160297E6-ED39-4B99-B549-79C4068287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D1815F4-0B12-4E2A-8CA9-DF10AD58D707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2차시  순서도 연구소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4C22B8-259C-432B-8E58-420D4E5FEC63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순서도 연구소 실습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0350EC-B6BF-4F08-BAD3-9B7F9B1587F2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상단에서 순서도 연구소를 선택한 뒤 실습으로 이동합니다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A3833C3-632A-430F-92BE-EF22BA1737C5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3"/>
          <a:srcRect t="4500" b="4500"/>
          <a:stretch>
            <a:fillRect/>
          </a:stretch>
        </p:blipFill>
        <p:spPr>
          <a:xfrm>
            <a:off x="523875" y="1666875"/>
            <a:ext cx="7620000" cy="4333875"/>
          </a:xfrm>
          <a:prstGeom prst="roundRect">
            <a:avLst>
              <a:gd name="adj" fmla="val 3077"/>
            </a:avLst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D05C919-7B78-4FF7-B7FF-2313A5669856}"/>
              </a:ext>
            </a:extLst>
          </p:cNvPr>
          <p:cNvSpPr>
            <a:spLocks noGrp="1"/>
          </p:cNvSpPr>
          <p:nvPr/>
        </p:nvSpPr>
        <p:spPr>
          <a:xfrm>
            <a:off x="8620125" y="19526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 fontScale="96572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987EBD8-F4A7-457C-A33B-9C7092544C07}"/>
              </a:ext>
            </a:extLst>
          </p:cNvPr>
          <p:cNvSpPr>
            <a:spLocks noGrp="1"/>
          </p:cNvSpPr>
          <p:nvPr/>
        </p:nvSpPr>
        <p:spPr>
          <a:xfrm>
            <a:off x="9286875" y="1885950"/>
            <a:ext cx="2286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순서도 연구소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8A13982-F1CB-44B4-BBCB-8F1E5DD24258}"/>
              </a:ext>
            </a:extLst>
          </p:cNvPr>
          <p:cNvSpPr>
            <a:spLocks noGrp="1"/>
          </p:cNvSpPr>
          <p:nvPr/>
        </p:nvSpPr>
        <p:spPr>
          <a:xfrm>
            <a:off x="8620125" y="29527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 fontScale="96572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84AA54-CBF2-4663-B6CE-0FCFB6CA02DD}"/>
              </a:ext>
            </a:extLst>
          </p:cNvPr>
          <p:cNvSpPr>
            <a:spLocks noGrp="1"/>
          </p:cNvSpPr>
          <p:nvPr/>
        </p:nvSpPr>
        <p:spPr>
          <a:xfrm>
            <a:off x="9286875" y="2886075"/>
            <a:ext cx="2286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8081715-5D32-48D1-B886-8616F5AA8669}"/>
              </a:ext>
            </a:extLst>
          </p:cNvPr>
          <p:cNvSpPr>
            <a:spLocks noGrp="1"/>
          </p:cNvSpPr>
          <p:nvPr/>
        </p:nvSpPr>
        <p:spPr>
          <a:xfrm>
            <a:off x="8620125" y="395287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 fontScale="96572"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260DAA0-F211-4B31-9E11-8FEDF381C9EC}"/>
              </a:ext>
            </a:extLst>
          </p:cNvPr>
          <p:cNvSpPr>
            <a:spLocks noGrp="1"/>
          </p:cNvSpPr>
          <p:nvPr/>
        </p:nvSpPr>
        <p:spPr>
          <a:xfrm>
            <a:off x="9286875" y="3886200"/>
            <a:ext cx="2286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1. 순차부터 시작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A4F8A1D-ED09-4873-A2C5-3D810CF80F81}"/>
              </a:ext>
            </a:extLst>
          </p:cNvPr>
          <p:cNvSpPr>
            <a:spLocks noGrp="1"/>
          </p:cNvSpPr>
          <p:nvPr/>
        </p:nvSpPr>
        <p:spPr>
          <a:xfrm>
            <a:off x="8524875" y="5095875"/>
            <a:ext cx="3095625" cy="857250"/>
          </a:xfrm>
          <a:prstGeom prst="roundRect">
            <a:avLst>
              <a:gd name="adj" fmla="val 15556"/>
            </a:avLst>
          </a:prstGeom>
          <a:solidFill>
            <a:srgbClr val="EAF1FF"/>
          </a:solidFill>
          <a:ln w="9525">
            <a:solidFill>
              <a:srgbClr val="B8CCFF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기호를 끌어 빈칸에 놓고 실행 결과를 확인합니다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A6EF278-DFB1-4998-B414-0AAF6B359062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73638" lnSpcReduction="10000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rPr>
              <a:t>정보 알고리즘 스튜디오</a:t>
            </a:r>
          </a:p>
        </p:txBody>
      </p:sp>
    </p:spTree>
    <p:extLst>
      <p:ext uri="{BB962C8B-B14F-4D97-AF65-F5344CB8AC3E}">
        <p14:creationId xmlns:p14="http://schemas.microsoft.com/office/powerpoint/2010/main" val="1952224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CF9156A2-C9CF-41CA-B60D-42148741AF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315F8AE-02B2-487D-B28D-20691D402CA7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2차시  순서도 연구소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A72EC4-9F43-4328-8635-B466E6D2F2B4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실습 1  라면 순차 구조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A7A33CB-E604-4C8D-A0BF-125A060BD8C0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왼쪽 기호를 알맞은 빈칸에 놓고 실행합니다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23DB09-7CB5-4878-A50D-EBC63A374D1A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rcRect t="6706" b="6706"/>
          <a:stretch>
            <a:fillRect/>
          </a:stretch>
        </p:blipFill>
        <p:spPr>
          <a:xfrm>
            <a:off x="523875" y="1666875"/>
            <a:ext cx="8096250" cy="4381500"/>
          </a:xfrm>
          <a:prstGeom prst="roundRect">
            <a:avLst>
              <a:gd name="adj" fmla="val 3043"/>
            </a:avLst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8461521-FADE-47FB-BF86-32603077EDFE}"/>
              </a:ext>
            </a:extLst>
          </p:cNvPr>
          <p:cNvSpPr>
            <a:spLocks noGrp="1"/>
          </p:cNvSpPr>
          <p:nvPr/>
        </p:nvSpPr>
        <p:spPr>
          <a:xfrm>
            <a:off x="9048750" y="1905000"/>
            <a:ext cx="2190750" cy="495300"/>
          </a:xfrm>
          <a:prstGeom prst="roundRect">
            <a:avLst>
              <a:gd name="adj" fmla="val 26923"/>
            </a:avLst>
          </a:prstGeom>
          <a:solidFill>
            <a:srgbClr val="2563EB"/>
          </a:solidFill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확인할 것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2D79FB-3ED1-4E15-8F17-D76A2EDC1BF7}"/>
              </a:ext>
            </a:extLst>
          </p:cNvPr>
          <p:cNvSpPr>
            <a:spLocks noGrp="1"/>
          </p:cNvSpPr>
          <p:nvPr/>
        </p:nvSpPr>
        <p:spPr>
          <a:xfrm>
            <a:off x="8858250" y="2619375"/>
            <a:ext cx="2667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25000"/>
              </a:lnSpc>
              <a:buNone/>
              <a:def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자료 기호는 입력</a:t>
            </a:r>
          </a:p>
          <a:p>
            <a:pPr algn="l">
              <a:lnSpc>
                <a:spcPct val="125000"/>
              </a:lnSpc>
              <a:buNone/>
              <a:def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처리 기호는 행동</a:t>
            </a:r>
          </a:p>
          <a:p>
            <a:pPr algn="l">
              <a:lnSpc>
                <a:spcPct val="125000"/>
              </a:lnSpc>
              <a:buNone/>
              <a:def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위에서 아래로 실행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CCE64D0-24A0-440E-B0D7-93C0BE1465A5}"/>
              </a:ext>
            </a:extLst>
          </p:cNvPr>
          <p:cNvSpPr>
            <a:spLocks noGrp="1"/>
          </p:cNvSpPr>
          <p:nvPr/>
        </p:nvSpPr>
        <p:spPr>
          <a:xfrm>
            <a:off x="9048750" y="5048250"/>
            <a:ext cx="2190750" cy="590550"/>
          </a:xfrm>
          <a:prstGeom prst="roundRect">
            <a:avLst>
              <a:gd name="adj" fmla="val 22581"/>
            </a:avLst>
          </a:prstGeom>
          <a:solidFill>
            <a:srgbClr val="EAF1FF"/>
          </a:solidFill>
          <a:ln w="9525">
            <a:solidFill>
              <a:srgbClr val="B8CCFF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목표 시간 5분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0FAC3E7-15F7-407B-AA0E-F7AF8236CC43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73638" lnSpcReduction="10000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rPr>
              <a:t>정보 알고리즘 스튜디오</a:t>
            </a:r>
          </a:p>
        </p:txBody>
      </p:sp>
    </p:spTree>
    <p:extLst>
      <p:ext uri="{BB962C8B-B14F-4D97-AF65-F5344CB8AC3E}">
        <p14:creationId xmlns:p14="http://schemas.microsoft.com/office/powerpoint/2010/main" val="2641764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6EBC06D0-AA48-48C2-8D3D-462D95A840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5B439F4-3A8F-4292-9293-4659DD8ABEEE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2차시  순서도 연구소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2E7132A-C0AF-4366-9238-A6802D1CC05E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실습 2  놀이기구 선택 구조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39D65E-C598-4DEA-8488-8F510BA13C45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키를 입력하고 예·아니오 두 흐름을 확인합니다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0F5D69-7B75-4FE9-ABA7-DFA4A6B94DD3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E7A4EB-56C9-4165-BBD3-2F103F4C3C4E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2667000" cy="619125"/>
          </a:xfrm>
          <a:prstGeom prst="rect">
            <a:avLst/>
          </a:prstGeom>
          <a:solidFill>
            <a:srgbClr val="FFF0D9"/>
          </a:solidFill>
          <a:ln w="9525">
            <a:solidFill>
              <a:srgbClr val="EE8A00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EE8A00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EE8A00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418A13-4711-4F6D-97EC-4885D4428C3C}"/>
              </a:ext>
            </a:extLst>
          </p:cNvPr>
          <p:cNvSpPr>
            <a:spLocks noGrp="1"/>
          </p:cNvSpPr>
          <p:nvPr/>
        </p:nvSpPr>
        <p:spPr>
          <a:xfrm>
            <a:off x="904875" y="2714625"/>
            <a:ext cx="4286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키가 기준 이상인가?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FD9A4A6-D05B-4BF2-BE39-5F918503BDB2}"/>
              </a:ext>
            </a:extLst>
          </p:cNvPr>
          <p:cNvSpPr>
            <a:spLocks noGrp="1"/>
          </p:cNvSpPr>
          <p:nvPr/>
        </p:nvSpPr>
        <p:spPr>
          <a:xfrm>
            <a:off x="5953125" y="1952625"/>
            <a:ext cx="2095500" cy="619125"/>
          </a:xfrm>
          <a:prstGeom prst="roundRect">
            <a:avLst>
              <a:gd name="adj" fmla="val 21538"/>
            </a:avLst>
          </a:prstGeom>
          <a:solidFill>
            <a:srgbClr val="EAF1FF"/>
          </a:solidFill>
          <a:ln w="9525">
            <a:solidFill>
              <a:srgbClr val="2563EB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8E101F-0906-4073-9DE0-EECCFA81AC98}"/>
              </a:ext>
            </a:extLst>
          </p:cNvPr>
          <p:cNvSpPr>
            <a:spLocks noGrp="1"/>
          </p:cNvSpPr>
          <p:nvPr/>
        </p:nvSpPr>
        <p:spPr>
          <a:xfrm>
            <a:off x="5953125" y="2714625"/>
            <a:ext cx="2095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탑승 가능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391291B-667B-48E2-A168-CEA417F5A1A9}"/>
              </a:ext>
            </a:extLst>
          </p:cNvPr>
          <p:cNvSpPr>
            <a:spLocks noGrp="1"/>
          </p:cNvSpPr>
          <p:nvPr/>
        </p:nvSpPr>
        <p:spPr>
          <a:xfrm>
            <a:off x="8858250" y="1952625"/>
            <a:ext cx="2095500" cy="619125"/>
          </a:xfrm>
          <a:prstGeom prst="roundRect">
            <a:avLst>
              <a:gd name="adj" fmla="val 21538"/>
            </a:avLst>
          </a:prstGeom>
          <a:solidFill>
            <a:srgbClr val="FFF0F0"/>
          </a:solidFill>
          <a:ln w="9525">
            <a:solidFill>
              <a:srgbClr val="F2AAAA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D94343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D94343"/>
                </a:solidFill>
                <a:latin typeface="맑은 고딕"/>
                <a:ea typeface="맑은 고딕"/>
                <a:cs typeface="맑은 고딕"/>
              </a:rPr>
              <a:t>아니오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0117F3-D9D7-4951-B7BA-CAA634E07CD5}"/>
              </a:ext>
            </a:extLst>
          </p:cNvPr>
          <p:cNvSpPr>
            <a:spLocks noGrp="1"/>
          </p:cNvSpPr>
          <p:nvPr/>
        </p:nvSpPr>
        <p:spPr>
          <a:xfrm>
            <a:off x="8858250" y="2714625"/>
            <a:ext cx="2095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탑승 불가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E61EDF6-09EA-4DF6-B082-0133A18E2BD1}"/>
              </a:ext>
            </a:extLst>
          </p:cNvPr>
          <p:cNvSpPr>
            <a:spLocks noGrp="1"/>
          </p:cNvSpPr>
          <p:nvPr/>
        </p:nvSpPr>
        <p:spPr>
          <a:xfrm>
            <a:off x="904875" y="4000500"/>
            <a:ext cx="2381250" cy="523875"/>
          </a:xfrm>
          <a:prstGeom prst="roundRect">
            <a:avLst>
              <a:gd name="adj" fmla="val 25455"/>
            </a:avLst>
          </a:prstGeom>
          <a:solidFill>
            <a:srgbClr val="2563EB"/>
          </a:solidFill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 확인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7B93040-D4D4-41F3-95EA-7CCB0B94F36C}"/>
              </a:ext>
            </a:extLst>
          </p:cNvPr>
          <p:cNvSpPr>
            <a:spLocks noGrp="1"/>
          </p:cNvSpPr>
          <p:nvPr/>
        </p:nvSpPr>
        <p:spPr>
          <a:xfrm>
            <a:off x="904875" y="4667250"/>
            <a:ext cx="1000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기준보다 작은 값과 큰 값을 각각 입력해 두 길이 모두 동작하는지 확인합니다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0B4F0DC-4BBA-4133-A09A-DEA94EF3CCB7}"/>
              </a:ext>
            </a:extLst>
          </p:cNvPr>
          <p:cNvSpPr>
            <a:spLocks noGrp="1"/>
          </p:cNvSpPr>
          <p:nvPr/>
        </p:nvSpPr>
        <p:spPr>
          <a:xfrm>
            <a:off x="9048750" y="5715000"/>
            <a:ext cx="2190750" cy="476250"/>
          </a:xfrm>
          <a:prstGeom prst="roundRect">
            <a:avLst>
              <a:gd name="adj" fmla="val 28000"/>
            </a:avLst>
          </a:prstGeom>
          <a:solidFill>
            <a:srgbClr val="EAF1FF"/>
          </a:solidFill>
          <a:ln w="9525">
            <a:solidFill>
              <a:srgbClr val="B8CCFF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목표 시간 5분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0C6CC2C-E436-42E6-A075-494D1141E421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73638" lnSpcReduction="10000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rPr>
              <a:t>정보 알고리즘 스튜디오</a:t>
            </a:r>
          </a:p>
        </p:txBody>
      </p:sp>
    </p:spTree>
    <p:extLst>
      <p:ext uri="{BB962C8B-B14F-4D97-AF65-F5344CB8AC3E}">
        <p14:creationId xmlns:p14="http://schemas.microsoft.com/office/powerpoint/2010/main" val="376989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F9925C4-0D39-4AFD-A545-39E6DC4094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6E8B59C-98E3-4470-92A4-79EDF59FC42E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2차시  순서도 연구소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096916-DDC6-4B7A-A6B4-66A0D21C21B8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실습 3  비밀번호 반복 구조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3F1B8A-B95F-4105-A2B1-CCBE75499533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틀렸을 때 입력 단계로 돌아가는 연결을 완성합니다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78456E6-6CDC-4524-BC56-60A93014C0DE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rcRect t="6706" b="6706"/>
          <a:stretch>
            <a:fillRect/>
          </a:stretch>
        </p:blipFill>
        <p:spPr>
          <a:xfrm>
            <a:off x="523875" y="1666875"/>
            <a:ext cx="8096250" cy="4381500"/>
          </a:xfrm>
          <a:prstGeom prst="roundRect">
            <a:avLst>
              <a:gd name="adj" fmla="val 3043"/>
            </a:avLst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EC007FF-6A08-47A6-B158-1E4DAA2E6965}"/>
              </a:ext>
            </a:extLst>
          </p:cNvPr>
          <p:cNvSpPr>
            <a:spLocks noGrp="1"/>
          </p:cNvSpPr>
          <p:nvPr/>
        </p:nvSpPr>
        <p:spPr>
          <a:xfrm>
            <a:off x="9001125" y="1905000"/>
            <a:ext cx="2286000" cy="495300"/>
          </a:xfrm>
          <a:prstGeom prst="roundRect">
            <a:avLst>
              <a:gd name="adj" fmla="val 26923"/>
            </a:avLst>
          </a:prstGeom>
          <a:solidFill>
            <a:srgbClr val="2563EB"/>
          </a:solidFill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두 번 실행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A12F854-ABFC-4569-AB83-1FF3EEBE936E}"/>
              </a:ext>
            </a:extLst>
          </p:cNvPr>
          <p:cNvSpPr>
            <a:spLocks noGrp="1"/>
          </p:cNvSpPr>
          <p:nvPr/>
        </p:nvSpPr>
        <p:spPr>
          <a:xfrm>
            <a:off x="8858250" y="2667000"/>
            <a:ext cx="2714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1234 입력</a:t>
            </a:r>
          </a:p>
          <a:p>
            <a:pPr algn="ctr">
              <a:lnSpc>
                <a:spcPct val="105000"/>
              </a:lnSpc>
              <a:buNone/>
              <a:defRPr sz="15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불일치 후 다시 입력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7B40588-EB13-4973-AE73-AD84F28F60B7}"/>
              </a:ext>
            </a:extLst>
          </p:cNvPr>
          <p:cNvSpPr>
            <a:spLocks noGrp="1"/>
          </p:cNvSpPr>
          <p:nvPr/>
        </p:nvSpPr>
        <p:spPr>
          <a:xfrm>
            <a:off x="8858250" y="3857625"/>
            <a:ext cx="2714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7777 입력</a:t>
            </a:r>
          </a:p>
          <a:p>
            <a:pPr algn="ctr">
              <a:lnSpc>
                <a:spcPct val="105000"/>
              </a:lnSpc>
              <a:buNone/>
              <a:defRPr sz="15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로그인 성공 후 종료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9185DB3-30A1-4F77-9E49-5CED6C02458A}"/>
              </a:ext>
            </a:extLst>
          </p:cNvPr>
          <p:cNvSpPr>
            <a:spLocks noGrp="1"/>
          </p:cNvSpPr>
          <p:nvPr/>
        </p:nvSpPr>
        <p:spPr>
          <a:xfrm>
            <a:off x="9048750" y="5286375"/>
            <a:ext cx="2190750" cy="590550"/>
          </a:xfrm>
          <a:prstGeom prst="roundRect">
            <a:avLst>
              <a:gd name="adj" fmla="val 22581"/>
            </a:avLst>
          </a:prstGeom>
          <a:solidFill>
            <a:srgbClr val="EAF1FF"/>
          </a:solidFill>
          <a:ln w="9525">
            <a:solidFill>
              <a:srgbClr val="B8CCFF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목표 시간 7분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E148D1B-D083-46C5-8A61-62F0B791D141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73638" lnSpcReduction="10000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rPr>
              <a:t>정보 알고리즘 스튜디오</a:t>
            </a:r>
          </a:p>
        </p:txBody>
      </p:sp>
    </p:spTree>
    <p:extLst>
      <p:ext uri="{BB962C8B-B14F-4D97-AF65-F5344CB8AC3E}">
        <p14:creationId xmlns:p14="http://schemas.microsoft.com/office/powerpoint/2010/main" val="1711544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763623-8A01-4DBF-ABDE-EBFB97F18C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73736BD-F247-4EEB-8109-6A24810FEFCE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2차시  순서도 연구소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41B7507-8E50-4AE8-8E71-33067FA812F6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오류 찾기와 수정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BD3662-494B-43F1-9063-0702CFD0527A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멈춘 위치는 단서이며, 원인을 확인하고 다시 연결합니다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541B752-0772-4709-B705-EE7CED05DF5F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A5C8DFD-D719-4ED2-97AD-4CBEE4DB66AF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2857500" cy="762000"/>
          </a:xfrm>
          <a:prstGeom prst="roundRect">
            <a:avLst>
              <a:gd name="adj" fmla="val 17500"/>
            </a:avLst>
          </a:prstGeom>
          <a:solidFill>
            <a:srgbClr val="EAF1FF"/>
          </a:solidFill>
          <a:ln w="9525">
            <a:solidFill>
              <a:srgbClr val="B8CCFF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  실행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D96330B-1EE8-44F6-9530-C492B0E93A5F}"/>
              </a:ext>
            </a:extLst>
          </p:cNvPr>
          <p:cNvSpPr>
            <a:spLocks noGrp="1"/>
          </p:cNvSpPr>
          <p:nvPr/>
        </p:nvSpPr>
        <p:spPr>
          <a:xfrm>
            <a:off x="4667250" y="2000250"/>
            <a:ext cx="2857500" cy="762000"/>
          </a:xfrm>
          <a:prstGeom prst="roundRect">
            <a:avLst>
              <a:gd name="adj" fmla="val 17500"/>
            </a:avLst>
          </a:prstGeom>
          <a:solidFill>
            <a:srgbClr val="FFF6E7"/>
          </a:solidFill>
          <a:ln w="9525">
            <a:solidFill>
              <a:srgbClr val="F1C982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EE8A00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EE8A00"/>
                </a:solidFill>
                <a:latin typeface="맑은 고딕"/>
                <a:ea typeface="맑은 고딕"/>
                <a:cs typeface="맑은 고딕"/>
              </a:rPr>
              <a:t>2  멈춘 곳 확인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24CC405-2862-4812-9DCD-0403D2A7AD7A}"/>
              </a:ext>
            </a:extLst>
          </p:cNvPr>
          <p:cNvSpPr>
            <a:spLocks noGrp="1"/>
          </p:cNvSpPr>
          <p:nvPr/>
        </p:nvSpPr>
        <p:spPr>
          <a:xfrm>
            <a:off x="8572500" y="2000250"/>
            <a:ext cx="2857500" cy="762000"/>
          </a:xfrm>
          <a:prstGeom prst="roundRect">
            <a:avLst>
              <a:gd name="adj" fmla="val 17500"/>
            </a:avLst>
          </a:prstGeom>
          <a:solidFill>
            <a:srgbClr val="E9FFF7"/>
          </a:solidFill>
          <a:ln w="9525">
            <a:solidFill>
              <a:srgbClr val="89D9B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13A874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13A874"/>
                </a:solidFill>
                <a:latin typeface="맑은 고딕"/>
                <a:ea typeface="맑은 고딕"/>
                <a:cs typeface="맑은 고딕"/>
              </a:rPr>
              <a:t>3  기호·연결 수정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992F22-8E93-4516-BE0D-21962A296DE5}"/>
              </a:ext>
            </a:extLst>
          </p:cNvPr>
          <p:cNvSpPr>
            <a:spLocks noGrp="1"/>
          </p:cNvSpPr>
          <p:nvPr/>
        </p:nvSpPr>
        <p:spPr>
          <a:xfrm>
            <a:off x="3714750" y="2095500"/>
            <a:ext cx="762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93985"/>
          </a:bodyPr>
          <a:lstStyle/>
          <a:p>
            <a:pPr algn="ctr">
              <a:lnSpc>
                <a:spcPct val="105000"/>
              </a:lnSpc>
              <a:buNone/>
              <a:defRPr sz="285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285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7264E0-A4EA-430A-B68F-91E5947DAF37}"/>
              </a:ext>
            </a:extLst>
          </p:cNvPr>
          <p:cNvSpPr>
            <a:spLocks noGrp="1"/>
          </p:cNvSpPr>
          <p:nvPr/>
        </p:nvSpPr>
        <p:spPr>
          <a:xfrm>
            <a:off x="7620000" y="2095500"/>
            <a:ext cx="762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93985"/>
          </a:bodyPr>
          <a:lstStyle/>
          <a:p>
            <a:pPr algn="ctr">
              <a:lnSpc>
                <a:spcPct val="105000"/>
              </a:lnSpc>
              <a:buNone/>
              <a:defRPr sz="285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285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49CB372-A47E-4F8C-953C-9442774AC53E}"/>
              </a:ext>
            </a:extLst>
          </p:cNvPr>
          <p:cNvSpPr>
            <a:spLocks noGrp="1"/>
          </p:cNvSpPr>
          <p:nvPr/>
        </p:nvSpPr>
        <p:spPr>
          <a:xfrm>
            <a:off x="762000" y="3667125"/>
            <a:ext cx="2381250" cy="523875"/>
          </a:xfrm>
          <a:prstGeom prst="roundRect">
            <a:avLst>
              <a:gd name="adj" fmla="val 25455"/>
            </a:avLst>
          </a:prstGeom>
          <a:solidFill>
            <a:srgbClr val="0F172A"/>
          </a:solidFill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 질문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34EABE-2DE2-4D8F-9CB6-E635BDBC21EF}"/>
              </a:ext>
            </a:extLst>
          </p:cNvPr>
          <p:cNvSpPr>
            <a:spLocks noGrp="1"/>
          </p:cNvSpPr>
          <p:nvPr/>
        </p:nvSpPr>
        <p:spPr>
          <a:xfrm>
            <a:off x="762000" y="4333875"/>
            <a:ext cx="1000125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20000"/>
              </a:lnSpc>
              <a:buNone/>
              <a:defRPr sz="18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시작에서 다음 기호로 연결되었나?</a:t>
            </a:r>
          </a:p>
          <a:p>
            <a:pPr algn="l">
              <a:lnSpc>
                <a:spcPct val="120000"/>
              </a:lnSpc>
              <a:buNone/>
              <a:defRPr sz="18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판단의 예와 아니오가 모두 연결되었나?</a:t>
            </a:r>
          </a:p>
          <a:p>
            <a:pPr algn="l">
              <a:lnSpc>
                <a:spcPct val="120000"/>
              </a:lnSpc>
              <a:buNone/>
              <a:defRPr sz="18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반복 흐름이 다시 확인할 단계로 돌아가나?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E7C94FE-B477-4484-B616-82258D972196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73638" lnSpcReduction="10000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rPr>
              <a:t>정보 알고리즘 스튜디오</a:t>
            </a:r>
          </a:p>
        </p:txBody>
      </p:sp>
    </p:spTree>
    <p:extLst>
      <p:ext uri="{BB962C8B-B14F-4D97-AF65-F5344CB8AC3E}">
        <p14:creationId xmlns:p14="http://schemas.microsoft.com/office/powerpoint/2010/main" val="2124356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79B183-8E14-490E-9C93-E4D7AA10B2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61E00A-E7A4-496B-AB54-2F3709D970FE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2차시  순서도 연구소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B8A6CA-A0C1-4D37-86FB-9B4F040551FE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먼저 끝난 학생의 확장 활동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880149-410E-4789-A4B2-C4CCC7891EF0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필수 세 단계가 모두 실행된 뒤 선택합니다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5309D9E-622E-4467-A682-AE245C141EB2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41582B8-D0CE-4ED4-A913-2B130C3D5E53}"/>
              </a:ext>
            </a:extLst>
          </p:cNvPr>
          <p:cNvSpPr>
            <a:spLocks noGrp="1"/>
          </p:cNvSpPr>
          <p:nvPr/>
        </p:nvSpPr>
        <p:spPr>
          <a:xfrm>
            <a:off x="1047750" y="2000250"/>
            <a:ext cx="4476750" cy="1190625"/>
          </a:xfrm>
          <a:prstGeom prst="roundRect">
            <a:avLst>
              <a:gd name="adj" fmla="val 11200"/>
            </a:avLst>
          </a:prstGeom>
          <a:solidFill>
            <a:srgbClr val="EAF1FF"/>
          </a:solidFill>
          <a:ln w="9525">
            <a:solidFill>
              <a:srgbClr val="B8CCFF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3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예시 공방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F73B487-8FD2-4EDF-939C-FF728E48E0D2}"/>
              </a:ext>
            </a:extLst>
          </p:cNvPr>
          <p:cNvSpPr>
            <a:spLocks noGrp="1"/>
          </p:cNvSpPr>
          <p:nvPr/>
        </p:nvSpPr>
        <p:spPr>
          <a:xfrm>
            <a:off x="1143000" y="3429000"/>
            <a:ext cx="4286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등교 준비 예시를 보고</a:t>
            </a:r>
          </a:p>
          <a:p>
            <a:pPr algn="ctr">
              <a:lnSpc>
                <a:spcPct val="105000"/>
              </a:lnSpc>
              <a:buNone/>
              <a:defRPr sz="1725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세 구조가 쓰인 위치 찾기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2170245-0C22-4A6C-BB02-686A9302F51F}"/>
              </a:ext>
            </a:extLst>
          </p:cNvPr>
          <p:cNvSpPr>
            <a:spLocks noGrp="1"/>
          </p:cNvSpPr>
          <p:nvPr/>
        </p:nvSpPr>
        <p:spPr>
          <a:xfrm>
            <a:off x="6667500" y="2000250"/>
            <a:ext cx="4476750" cy="1190625"/>
          </a:xfrm>
          <a:prstGeom prst="roundRect">
            <a:avLst>
              <a:gd name="adj" fmla="val 11200"/>
            </a:avLst>
          </a:prstGeom>
          <a:solidFill>
            <a:srgbClr val="F4EEFF"/>
          </a:solidFill>
          <a:ln w="9525">
            <a:solidFill>
              <a:srgbClr val="C9A9FF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325" b="1">
                <a:solidFill>
                  <a:srgbClr val="8B3DFF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8B3DFF"/>
                </a:solidFill>
                <a:latin typeface="맑은 고딕"/>
                <a:ea typeface="맑은 고딕"/>
                <a:cs typeface="맑은 고딕"/>
              </a:rPr>
              <a:t>나만의 백지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F3E69BE-30D7-4B72-B9B7-2035A478BDEF}"/>
              </a:ext>
            </a:extLst>
          </p:cNvPr>
          <p:cNvSpPr>
            <a:spLocks noGrp="1"/>
          </p:cNvSpPr>
          <p:nvPr/>
        </p:nvSpPr>
        <p:spPr>
          <a:xfrm>
            <a:off x="6762750" y="3429000"/>
            <a:ext cx="4286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자신의 일상 문제를 정하고</a:t>
            </a:r>
          </a:p>
          <a:p>
            <a:pPr algn="ctr">
              <a:lnSpc>
                <a:spcPct val="105000"/>
              </a:lnSpc>
              <a:buNone/>
              <a:defRPr sz="1725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직접 기호와 연결선으로 표현하기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E7FB74F-A0D0-4AA2-BF08-442013467C13}"/>
              </a:ext>
            </a:extLst>
          </p:cNvPr>
          <p:cNvSpPr>
            <a:spLocks noGrp="1"/>
          </p:cNvSpPr>
          <p:nvPr/>
        </p:nvSpPr>
        <p:spPr>
          <a:xfrm>
            <a:off x="2571750" y="5238750"/>
            <a:ext cx="7048500" cy="666750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필수 활동을 건너뛰고 이동하지 않습니다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30FCE87-688A-4A76-8A04-C83A691E27A3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73638" lnSpcReduction="10000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rPr>
              <a:t>정보 알고리즘 스튜디오</a:t>
            </a:r>
          </a:p>
        </p:txBody>
      </p:sp>
    </p:spTree>
    <p:extLst>
      <p:ext uri="{BB962C8B-B14F-4D97-AF65-F5344CB8AC3E}">
        <p14:creationId xmlns:p14="http://schemas.microsoft.com/office/powerpoint/2010/main" val="2241172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918129-46F3-4C92-8DA6-315D13944A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9788EF4-8362-4FD9-AE52-EC1C03FF2753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86865" lnSpcReduction="20000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수업 마무리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C87A192-2B6D-4286-B090-4F9193CB7702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마지막 확인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BDF90DB-AA93-409D-A032-F967AE8F0287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정답은 생각한 뒤 클릭하여 확인합니다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76C57B-119F-4137-92C0-FC015D22B608}"/>
              </a:ext>
            </a:extLst>
          </p:cNvPr>
          <p:cNvSpPr>
            <a:spLocks noGrp="1"/>
          </p:cNvSpPr>
          <p:nvPr/>
        </p:nvSpPr>
        <p:spPr>
          <a:xfrm>
            <a:off x="11096625" y="333375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2491FC-E635-465D-B625-75DDA618E543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0287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비밀번호가 틀리면 다시 입력하는 흐름은 어떤 구조일까?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27558C9-9039-4B92-91A7-2602F9EA692E}"/>
              </a:ext>
            </a:extLst>
          </p:cNvPr>
          <p:cNvSpPr>
            <a:spLocks noGrp="1"/>
          </p:cNvSpPr>
          <p:nvPr/>
        </p:nvSpPr>
        <p:spPr>
          <a:xfrm>
            <a:off x="1143000" y="2952750"/>
            <a:ext cx="2857500" cy="809625"/>
          </a:xfrm>
          <a:prstGeom prst="roundRect">
            <a:avLst>
              <a:gd name="adj" fmla="val 16471"/>
            </a:avLst>
          </a:prstGeom>
          <a:solidFill>
            <a:srgbClr val="F4F7FB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① 순차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835AB7A-B6C8-47EA-B55D-8FCEAA561B25}"/>
              </a:ext>
            </a:extLst>
          </p:cNvPr>
          <p:cNvSpPr>
            <a:spLocks noGrp="1"/>
          </p:cNvSpPr>
          <p:nvPr/>
        </p:nvSpPr>
        <p:spPr>
          <a:xfrm>
            <a:off x="4667250" y="2952750"/>
            <a:ext cx="2857500" cy="809625"/>
          </a:xfrm>
          <a:prstGeom prst="roundRect">
            <a:avLst>
              <a:gd name="adj" fmla="val 16471"/>
            </a:avLst>
          </a:prstGeom>
          <a:solidFill>
            <a:srgbClr val="F4F7FB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② 선택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C71839B-BAE3-49D1-8EC4-8BDB65F94EC3}"/>
              </a:ext>
            </a:extLst>
          </p:cNvPr>
          <p:cNvSpPr>
            <a:spLocks noGrp="1"/>
          </p:cNvSpPr>
          <p:nvPr/>
        </p:nvSpPr>
        <p:spPr>
          <a:xfrm>
            <a:off x="8191500" y="2952750"/>
            <a:ext cx="2857500" cy="809625"/>
          </a:xfrm>
          <a:prstGeom prst="roundRect">
            <a:avLst>
              <a:gd name="adj" fmla="val 16471"/>
            </a:avLst>
          </a:prstGeom>
          <a:solidFill>
            <a:srgbClr val="F4F7FB"/>
          </a:solidFill>
          <a:ln w="9525">
            <a:solidFill>
              <a:srgbClr val="D8E1E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③ 반복</a:t>
            </a:r>
          </a:p>
        </p:txBody>
      </p:sp>
      <p:sp>
        <p:nvSpPr>
          <p:cNvPr id="10" name="ANIM_01_A">
            <a:extLst>
              <a:ext uri="{FF2B5EF4-FFF2-40B4-BE49-F238E27FC236}">
                <a16:creationId xmlns:a16="http://schemas.microsoft.com/office/drawing/2014/main" id="{0753F68B-14A0-4E4D-A938-D6ED6B080E7E}"/>
              </a:ext>
            </a:extLst>
          </p:cNvPr>
          <p:cNvSpPr>
            <a:spLocks noGrp="1"/>
          </p:cNvSpPr>
          <p:nvPr/>
        </p:nvSpPr>
        <p:spPr>
          <a:xfrm>
            <a:off x="2381250" y="4619625"/>
            <a:ext cx="7429500" cy="1000125"/>
          </a:xfrm>
          <a:prstGeom prst="roundRect">
            <a:avLst>
              <a:gd name="adj" fmla="val 13333"/>
            </a:avLst>
          </a:prstGeom>
          <a:solidFill>
            <a:srgbClr val="E9FFF7"/>
          </a:solidFill>
          <a:ln w="9525">
            <a:solidFill>
              <a:srgbClr val="89D9BC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087F5B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087F5B"/>
                </a:solidFill>
                <a:latin typeface="맑은 고딕"/>
                <a:ea typeface="맑은 고딕"/>
                <a:cs typeface="맑은 고딕"/>
              </a:rPr>
              <a:t>정답  ③ 반복</a:t>
            </a:r>
          </a:p>
          <a:p>
            <a:pPr algn="ctr">
              <a:lnSpc>
                <a:spcPct val="105000"/>
              </a:lnSpc>
              <a:buNone/>
              <a:defRPr sz="1950" b="1">
                <a:solidFill>
                  <a:srgbClr val="087F5B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087F5B"/>
                </a:solidFill>
                <a:latin typeface="맑은 고딕"/>
                <a:ea typeface="맑은 고딕"/>
                <a:cs typeface="맑은 고딕"/>
              </a:rPr>
              <a:t>조건을 만족하지 못하면 이전 단계로 돌아갑니다</a:t>
            </a:r>
          </a:p>
        </p:txBody>
      </p:sp>
      <p:sp>
        <p:nvSpPr>
          <p:cNvPr id="11" name="ANIM_02_A">
            <a:extLst>
              <a:ext uri="{FF2B5EF4-FFF2-40B4-BE49-F238E27FC236}">
                <a16:creationId xmlns:a16="http://schemas.microsoft.com/office/drawing/2014/main" id="{C330F265-4B9C-47D6-B47C-EFF4917B290B}"/>
              </a:ext>
            </a:extLst>
          </p:cNvPr>
          <p:cNvSpPr>
            <a:spLocks noGrp="1"/>
          </p:cNvSpPr>
          <p:nvPr/>
        </p:nvSpPr>
        <p:spPr>
          <a:xfrm>
            <a:off x="1619250" y="5953125"/>
            <a:ext cx="895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명확한 절차를 만들고, 실행하며, 스스로 고쳐 보았습니다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BAB8EA2-38B6-4454-B035-97FB47D7EA78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47625" rIns="76200" bIns="47625" anchor="ctr">
            <a:normAutofit fontScale="73638" lnSpcReduction="10000"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>
                <a:solidFill>
                  <a:srgbClr val="8A99AD"/>
                </a:solidFill>
                <a:latin typeface="맑은 고딕"/>
                <a:ea typeface="맑은 고딕"/>
                <a:cs typeface="맑은 고딕"/>
              </a:rPr>
              <a:t>정보 알고리즘 스튜디오</a:t>
            </a:r>
          </a:p>
        </p:txBody>
      </p:sp>
    </p:spTree>
    <p:extLst>
      <p:ext uri="{BB962C8B-B14F-4D97-AF65-F5344CB8AC3E}">
        <p14:creationId xmlns:p14="http://schemas.microsoft.com/office/powerpoint/2010/main" val="342982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1526</Words>
  <Application>Microsoft Office PowerPoint</Application>
  <DocSecurity>0</DocSecurity>
  <PresentationFormat>와이드스크린</PresentationFormat>
  <Paragraphs>346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9" baseType="lpstr">
      <vt:lpstr>맑은 고딕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동현 안</cp:lastModifiedBy>
  <cp:revision>3</cp:revision>
  <dcterms:created xsi:type="dcterms:W3CDTF">2026-09-13T11:19:21Z</dcterms:created>
  <dcterms:modified xsi:type="dcterms:W3CDTF">2026-09-13T11:36:07Z</dcterms:modified>
</cp:coreProperties>
</file>